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0"/>
  </p:notesMasterIdLst>
  <p:sldIdLst>
    <p:sldId id="256" r:id="rId3"/>
    <p:sldId id="257" r:id="rId4"/>
    <p:sldId id="258" r:id="rId5"/>
    <p:sldId id="259" r:id="rId6"/>
    <p:sldId id="271" r:id="rId7"/>
    <p:sldId id="260" r:id="rId8"/>
    <p:sldId id="272" r:id="rId9"/>
    <p:sldId id="261" r:id="rId10"/>
    <p:sldId id="262" r:id="rId11"/>
    <p:sldId id="263" r:id="rId12"/>
    <p:sldId id="264" r:id="rId13"/>
    <p:sldId id="265" r:id="rId14"/>
    <p:sldId id="266" r:id="rId15"/>
    <p:sldId id="267" r:id="rId16"/>
    <p:sldId id="268" r:id="rId17"/>
    <p:sldId id="269" r:id="rId18"/>
    <p:sldId id="270" r:id="rId19"/>
  </p:sldIdLst>
  <p:sldSz cx="9144000" cy="5143500" type="screen16x9"/>
  <p:notesSz cx="6858000" cy="9144000"/>
  <p:embeddedFontLst>
    <p:embeddedFont>
      <p:font typeface="Google Sans"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BEB"/>
    <a:srgbClr val="30302E"/>
    <a:srgbClr val="42431B"/>
    <a:srgbClr val="9A9F9F"/>
    <a:srgbClr val="431B1C"/>
    <a:srgbClr val="1B4322"/>
    <a:srgbClr val="9F9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19" d="100"/>
          <a:sy n="119" d="100"/>
        </p:scale>
        <p:origin x="442"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c07f7ad1a1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c07f7ad1a1_2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c07f7ad1a1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3c07f7ad1a1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c07f7ad1a1_2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c07f7ad1a1_2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c07f7ad1a1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c07f7ad1a1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c07f7ad1a1_2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c07f7ad1a1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c07f7ad1a1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c07f7ad1a1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c07f7ad1a1_2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3c07f7ad1a1_2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p:nvPr/>
        </p:nvSpPr>
        <p:spPr>
          <a:xfrm>
            <a:off x="436625" y="881025"/>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GB" sz="4000" b="1" i="0" u="none" strike="noStrike" cap="none">
                <a:solidFill>
                  <a:schemeClr val="accent1"/>
                </a:solidFill>
                <a:latin typeface="Google Sans"/>
                <a:ea typeface="Google Sans"/>
                <a:cs typeface="Google Sans"/>
                <a:sym typeface="Google Sans"/>
              </a:rPr>
              <a:t>Guidelines</a:t>
            </a:r>
            <a:endParaRPr sz="4000" b="1" i="0" u="none" strike="noStrike" cap="none">
              <a:solidFill>
                <a:schemeClr val="accent1"/>
              </a:solidFill>
              <a:latin typeface="Google Sans"/>
              <a:ea typeface="Google Sans"/>
              <a:cs typeface="Google Sans"/>
              <a:sym typeface="Google Sans"/>
            </a:endParaRPr>
          </a:p>
        </p:txBody>
      </p:sp>
      <p:sp>
        <p:nvSpPr>
          <p:cNvPr id="100" name="Google Shape;100;p25"/>
          <p:cNvSpPr txBox="1"/>
          <p:nvPr/>
        </p:nvSpPr>
        <p:spPr>
          <a:xfrm>
            <a:off x="609900" y="1711275"/>
            <a:ext cx="7924200" cy="2551200"/>
          </a:xfrm>
          <a:prstGeom prst="rect">
            <a:avLst/>
          </a:prstGeom>
          <a:noFill/>
          <a:ln>
            <a:noFill/>
          </a:ln>
        </p:spPr>
        <p:txBody>
          <a:bodyPr spcFirstLastPara="1" wrap="square" lIns="91425" tIns="91425" rIns="91425" bIns="91425" anchor="t" anchorCtr="0">
            <a:noAutofit/>
          </a:bodyPr>
          <a:lstStyle/>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Kindly use the given template for submitting your </a:t>
            </a:r>
            <a:r>
              <a:rPr lang="en-GB" sz="1500">
                <a:solidFill>
                  <a:srgbClr val="434343"/>
                </a:solidFill>
                <a:latin typeface="Google Sans"/>
                <a:ea typeface="Google Sans"/>
                <a:cs typeface="Google Sans"/>
                <a:sym typeface="Google Sans"/>
              </a:rPr>
              <a:t>prototype</a:t>
            </a:r>
            <a:r>
              <a:rPr lang="en-GB" sz="1500" b="0" i="0" u="none" strike="noStrike" cap="none">
                <a:solidFill>
                  <a:srgbClr val="434343"/>
                </a:solidFill>
                <a:latin typeface="Google Sans"/>
                <a:ea typeface="Google Sans"/>
                <a:cs typeface="Google Sans"/>
                <a:sym typeface="Google Sans"/>
              </a:rPr>
              <a:t>(Make a copy of the template)</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One team is only required to submit one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a:solidFill>
                  <a:srgbClr val="434343"/>
                </a:solidFill>
                <a:latin typeface="Google Sans"/>
                <a:ea typeface="Google Sans"/>
                <a:cs typeface="Google Sans"/>
                <a:sym typeface="Google Sans"/>
              </a:rPr>
              <a:t>Follow this template while preparing your presentation.</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You are welcome to add as many POCs and design concepts to support your project.</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The project should be feasible and the team members should be capable enough, to come up with the fully functioning prototype of the same idea, if required.</a:t>
            </a:r>
            <a:endParaRPr sz="1500" b="0" i="0" u="none" strike="noStrike" cap="none">
              <a:solidFill>
                <a:srgbClr val="434343"/>
              </a:solidFill>
              <a:latin typeface="Google Sans"/>
              <a:ea typeface="Google Sans"/>
              <a:cs typeface="Google Sans"/>
              <a:sym typeface="Google Sans"/>
            </a:endParaRPr>
          </a:p>
          <a:p>
            <a:pPr marL="457200" marR="0" lvl="0" indent="-323850" algn="l" rtl="0">
              <a:lnSpc>
                <a:spcPct val="100000"/>
              </a:lnSpc>
              <a:spcBef>
                <a:spcPts val="0"/>
              </a:spcBef>
              <a:spcAft>
                <a:spcPts val="0"/>
              </a:spcAft>
              <a:buClr>
                <a:srgbClr val="434343"/>
              </a:buClr>
              <a:buSzPts val="1500"/>
              <a:buFont typeface="Google Sans"/>
              <a:buChar char="●"/>
            </a:pPr>
            <a:r>
              <a:rPr lang="en-GB" sz="1500" b="0" i="0" u="none" strike="noStrike" cap="none">
                <a:solidFill>
                  <a:srgbClr val="434343"/>
                </a:solidFill>
                <a:latin typeface="Google Sans"/>
                <a:ea typeface="Google Sans"/>
                <a:cs typeface="Google Sans"/>
                <a:sym typeface="Google Sans"/>
              </a:rPr>
              <a:t>In case of queries, kindly reach out to us at </a:t>
            </a:r>
            <a:r>
              <a:rPr lang="en-GB" sz="1500">
                <a:solidFill>
                  <a:srgbClr val="434343"/>
                </a:solidFill>
                <a:latin typeface="Google Sans"/>
                <a:ea typeface="Google Sans"/>
                <a:cs typeface="Google Sans"/>
                <a:sym typeface="Google Sans"/>
              </a:rPr>
              <a:t>solutionchallengesupport@hack2skill.com</a:t>
            </a:r>
            <a:endParaRPr sz="1500" b="0" i="0" u="none" strike="noStrike" cap="none">
              <a:solidFill>
                <a:srgbClr val="434343"/>
              </a:solidFill>
              <a:latin typeface="Google Sans"/>
              <a:ea typeface="Google Sans"/>
              <a:cs typeface="Google Sans"/>
              <a:sym typeface="Google Sans"/>
            </a:endParaRPr>
          </a:p>
        </p:txBody>
      </p:sp>
      <p:pic>
        <p:nvPicPr>
          <p:cNvPr id="101" name="Google Shape;101;p25"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102" name="Google Shape;102;p25"/>
          <p:cNvSpPr txBox="1"/>
          <p:nvPr/>
        </p:nvSpPr>
        <p:spPr>
          <a:xfrm>
            <a:off x="65700" y="3897125"/>
            <a:ext cx="9012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b="1">
                <a:solidFill>
                  <a:srgbClr val="FF0000"/>
                </a:solidFill>
                <a:latin typeface="Google Sans"/>
                <a:ea typeface="Google Sans"/>
                <a:cs typeface="Google Sans"/>
                <a:sym typeface="Google Sans"/>
              </a:rPr>
              <a:t>Note:</a:t>
            </a:r>
            <a:r>
              <a:rPr lang="en-GB" sz="1500">
                <a:solidFill>
                  <a:srgbClr val="434343"/>
                </a:solidFill>
                <a:latin typeface="Google Sans"/>
                <a:ea typeface="Google Sans"/>
                <a:cs typeface="Google Sans"/>
                <a:sym typeface="Google Sans"/>
              </a:rPr>
              <a:t> Prototype must include cloud deployment and use at least one Google AI model or service (e.g., Gemini) as part of the solution.</a:t>
            </a:r>
            <a:endParaRPr sz="1500">
              <a:solidFill>
                <a:srgbClr val="434343"/>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Team </a:t>
            </a:r>
            <a:r>
              <a:rPr lang="en-GB" sz="1800" b="1" i="0" u="none" strike="noStrike" cap="none" dirty="0" err="1">
                <a:solidFill>
                  <a:srgbClr val="000000"/>
                </a:solidFill>
                <a:latin typeface="Google Sans"/>
                <a:ea typeface="Google Sans"/>
                <a:cs typeface="Google Sans"/>
                <a:sym typeface="Google Sans"/>
              </a:rPr>
              <a:t>Soloers</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Mohammad Taufeeq Sameer</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US" sz="1800" b="1" dirty="0"/>
              <a:t>[Smart Resource Allocation] Data-Driven Volunteer Coordination for Social Impact</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Brief about your solution</a:t>
            </a:r>
          </a:p>
          <a:p>
            <a:pPr marL="0" marR="0" lvl="0" indent="0" algn="l" rtl="0">
              <a:lnSpc>
                <a:spcPct val="100000"/>
              </a:lnSpc>
              <a:spcBef>
                <a:spcPts val="0"/>
              </a:spcBef>
              <a:spcAft>
                <a:spcPts val="0"/>
              </a:spcAft>
              <a:buClr>
                <a:srgbClr val="000000"/>
              </a:buClr>
              <a:buSzPts val="1800"/>
              <a:buFont typeface="Arial"/>
              <a:buNone/>
            </a:pPr>
            <a:endParaRPr lang="en-GB" sz="1800" dirty="0">
              <a:latin typeface="Google Sans"/>
              <a:ea typeface="Google Sans"/>
              <a:cs typeface="Google Sans"/>
              <a:sym typeface="Google Sans"/>
            </a:endParaRPr>
          </a:p>
          <a:p>
            <a:r>
              <a:rPr lang="en-GB" sz="1800" b="0" i="0" u="none" strike="noStrike" cap="none" dirty="0">
                <a:solidFill>
                  <a:srgbClr val="000000"/>
                </a:solidFill>
                <a:latin typeface="Google Sans"/>
                <a:ea typeface="Google Sans"/>
                <a:cs typeface="Google Sans"/>
                <a:sym typeface="Google Sans"/>
              </a:rPr>
              <a:t>Solution: </a:t>
            </a:r>
            <a:endParaRPr lang="en-US" sz="1800" dirty="0"/>
          </a:p>
          <a:p>
            <a:r>
              <a:rPr lang="en-US" sz="1600" dirty="0"/>
              <a:t>NGOs and social programs don't lack volunteers — they lack the intelligence to deploy them correctly. Resources pile up in some zones while others silently go into crisis, all because allocation decisions are made manually, on outdated data, with no unified view of the ground reality. </a:t>
            </a:r>
            <a:r>
              <a:rPr lang="en-US" sz="1600" b="1" dirty="0" err="1"/>
              <a:t>ResourceIQ</a:t>
            </a:r>
            <a:r>
              <a:rPr lang="en-US" sz="1600" b="1" dirty="0"/>
              <a:t> ,Our Solution</a:t>
            </a:r>
            <a:r>
              <a:rPr lang="en-US" sz="1600" dirty="0"/>
              <a:t> is an AI-powered misallocation detection and reallocation engine that ingests scattered field reports, surveys, and program data, structures and scores them by urgency, and renders real-time demand-supply gap heatmaps so coordinators can see misallocation at a glance. A smart allocation engine then analyzes urgency, skill requirements, historical patterns, and current deployment levels to prescribe specific, data-backed reallocation actions — not suggestions, but decisions. Every action is logged, auditable, and traceable. </a:t>
            </a:r>
            <a:r>
              <a:rPr lang="en-US" sz="1600" dirty="0" err="1"/>
              <a:t>ResourceIQ</a:t>
            </a:r>
            <a:r>
              <a:rPr lang="en-US" sz="1600" dirty="0"/>
              <a:t> doesn't tell you who's available. It tells you exactly where they need to go and why.</a:t>
            </a: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Opportunities</a:t>
            </a:r>
            <a:endParaRPr sz="1800" b="0" i="0" u="none" strike="noStrike" cap="none" dirty="0">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r>
              <a:rPr lang="en-GB" sz="1800" b="0" i="0" u="none" strike="noStrike" cap="none" dirty="0">
                <a:solidFill>
                  <a:srgbClr val="000000"/>
                </a:solidFill>
                <a:latin typeface="Google Sans"/>
                <a:ea typeface="Google Sans"/>
                <a:cs typeface="Google Sans"/>
                <a:sym typeface="Google Sans"/>
              </a:rPr>
              <a:t>How different is it from any of the other existing ideas?</a:t>
            </a:r>
          </a:p>
          <a:p>
            <a:pPr marL="914400" marR="0" lvl="1" indent="-342900" algn="l" rtl="0">
              <a:lnSpc>
                <a:spcPct val="115000"/>
              </a:lnSpc>
              <a:spcBef>
                <a:spcPts val="0"/>
              </a:spcBef>
              <a:spcAft>
                <a:spcPts val="0"/>
              </a:spcAft>
              <a:buClr>
                <a:srgbClr val="000000"/>
              </a:buClr>
              <a:buSzPts val="1800"/>
              <a:buFont typeface="Google Sans"/>
              <a:buAutoNum type="alphaLcPeriod"/>
            </a:pPr>
            <a:endParaRPr lang="en-GB" sz="1800" dirty="0">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endParaRPr lang="en-GB" sz="1800" b="0" i="0" u="none" strike="noStrike" cap="none" dirty="0">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endParaRPr lang="en-GB" sz="1800" dirty="0">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endParaRPr sz="1800" b="0" i="0" u="none" strike="noStrike" cap="none" dirty="0">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r>
              <a:rPr lang="en-GB" sz="1800" b="0" i="0" u="none" strike="noStrike" cap="none" dirty="0">
                <a:solidFill>
                  <a:srgbClr val="000000"/>
                </a:solidFill>
                <a:latin typeface="Google Sans"/>
                <a:ea typeface="Google Sans"/>
                <a:cs typeface="Google Sans"/>
                <a:sym typeface="Google Sans"/>
              </a:rPr>
              <a:t>How will it be able to solve the problem?</a:t>
            </a:r>
          </a:p>
          <a:p>
            <a:pPr marL="914400" marR="0" lvl="1" indent="-342900" algn="l" rtl="0">
              <a:lnSpc>
                <a:spcPct val="115000"/>
              </a:lnSpc>
              <a:spcBef>
                <a:spcPts val="0"/>
              </a:spcBef>
              <a:spcAft>
                <a:spcPts val="0"/>
              </a:spcAft>
              <a:buClr>
                <a:srgbClr val="000000"/>
              </a:buClr>
              <a:buSzPts val="1800"/>
              <a:buFont typeface="Google Sans"/>
              <a:buAutoNum type="alphaLcPeriod"/>
            </a:pPr>
            <a:endParaRPr lang="en-US" sz="1800" b="0" i="0" u="none" strike="noStrike" cap="none" dirty="0">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endParaRPr lang="en-US" sz="1800" dirty="0">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endParaRPr lang="en-US" sz="1800" b="0" i="0" u="none" strike="noStrike" cap="none" dirty="0">
              <a:solidFill>
                <a:srgbClr val="000000"/>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000000"/>
              </a:buClr>
              <a:buSzPts val="1800"/>
              <a:buFont typeface="Google Sans"/>
              <a:buAutoNum type="alphaLcPeriod"/>
            </a:pPr>
            <a:endParaRPr lang="en-IN" sz="1800" b="0" i="0" u="none" strike="noStrike" cap="none" dirty="0">
              <a:solidFill>
                <a:srgbClr val="000000"/>
              </a:solidFill>
              <a:latin typeface="Google Sans"/>
              <a:ea typeface="Google Sans"/>
              <a:cs typeface="Google Sans"/>
              <a:sym typeface="Google Sans"/>
            </a:endParaRPr>
          </a:p>
          <a:p>
            <a:pPr marL="571500" marR="0" lvl="1" algn="l" rtl="0">
              <a:lnSpc>
                <a:spcPct val="115000"/>
              </a:lnSpc>
              <a:spcBef>
                <a:spcPts val="0"/>
              </a:spcBef>
              <a:spcAft>
                <a:spcPts val="0"/>
              </a:spcAft>
              <a:buClr>
                <a:srgbClr val="000000"/>
              </a:buClr>
              <a:buSzPts val="1800"/>
            </a:pPr>
            <a:endParaRPr sz="1800" dirty="0">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595959"/>
              </a:solidFill>
              <a:latin typeface="Google Sans"/>
              <a:ea typeface="Google Sans"/>
              <a:cs typeface="Google Sans"/>
              <a:sym typeface="Google Sans"/>
            </a:endParaRP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3" name="Rectangle 2">
            <a:extLst>
              <a:ext uri="{FF2B5EF4-FFF2-40B4-BE49-F238E27FC236}">
                <a16:creationId xmlns:a16="http://schemas.microsoft.com/office/drawing/2014/main" id="{436FAFD2-11A0-4113-3347-E07D8147D2C9}"/>
              </a:ext>
            </a:extLst>
          </p:cNvPr>
          <p:cNvSpPr>
            <a:spLocks noChangeArrowheads="1"/>
          </p:cNvSpPr>
          <p:nvPr/>
        </p:nvSpPr>
        <p:spPr bwMode="auto">
          <a:xfrm>
            <a:off x="715089" y="1297700"/>
            <a:ext cx="842891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Existing tools are volunteer listing/task boards — they show availability, not misallocation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Google Sans" panose="020B0604020202020204" charset="0"/>
                <a:ea typeface="Google Sans" panose="020B0604020202020204" charset="0"/>
                <a:cs typeface="Google Sans" panose="020B0604020202020204" charset="0"/>
              </a:rPr>
              <a:t>ResourceIQ</a:t>
            </a: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 detects </a:t>
            </a:r>
            <a:r>
              <a:rPr kumimoji="0" lang="en-US" altLang="en-US" sz="1600" b="1"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where deployment is wrong</a:t>
            </a: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 not just who is free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No existing solution combines heatmaps + urgency scoring + prescriptive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  reallocation in one engine </a:t>
            </a:r>
          </a:p>
        </p:txBody>
      </p:sp>
      <p:sp>
        <p:nvSpPr>
          <p:cNvPr id="4" name="Rectangle 3">
            <a:extLst>
              <a:ext uri="{FF2B5EF4-FFF2-40B4-BE49-F238E27FC236}">
                <a16:creationId xmlns:a16="http://schemas.microsoft.com/office/drawing/2014/main" id="{5E832C5A-504C-3666-6531-13A1BD3802C8}"/>
              </a:ext>
            </a:extLst>
          </p:cNvPr>
          <p:cNvSpPr>
            <a:spLocks noChangeArrowheads="1"/>
          </p:cNvSpPr>
          <p:nvPr/>
        </p:nvSpPr>
        <p:spPr bwMode="auto">
          <a:xfrm>
            <a:off x="715089" y="2835765"/>
            <a:ext cx="7494359"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Normalizes scattered, inconsistent field data into a unified 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Heatmaps make invisible gaps </a:t>
            </a:r>
            <a:r>
              <a:rPr kumimoji="0" lang="en-US" altLang="en-US" sz="1600" b="1"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immediately visible</a:t>
            </a: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 to coordinators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Replaces gut-feel decisions with objective, multi-parameter allocation scoring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Learns from past deployments so the same mistakes don't repeat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22;p28" title="frameeeee.png">
            <a:extLst>
              <a:ext uri="{FF2B5EF4-FFF2-40B4-BE49-F238E27FC236}">
                <a16:creationId xmlns:a16="http://schemas.microsoft.com/office/drawing/2014/main" id="{FD67C69E-6F85-7358-8A89-E7CFEC902870}"/>
              </a:ext>
            </a:extLst>
          </p:cNvPr>
          <p:cNvPicPr preferRelativeResize="0"/>
          <p:nvPr/>
        </p:nvPicPr>
        <p:blipFill>
          <a:blip r:embed="rId2">
            <a:alphaModFix/>
          </a:blip>
          <a:stretch>
            <a:fillRect/>
          </a:stretch>
        </p:blipFill>
        <p:spPr>
          <a:xfrm>
            <a:off x="0" y="0"/>
            <a:ext cx="9144003" cy="589347"/>
          </a:xfrm>
          <a:prstGeom prst="rect">
            <a:avLst/>
          </a:prstGeom>
          <a:noFill/>
          <a:ln>
            <a:noFill/>
          </a:ln>
        </p:spPr>
      </p:pic>
      <p:sp>
        <p:nvSpPr>
          <p:cNvPr id="3" name="TextBox 2">
            <a:extLst>
              <a:ext uri="{FF2B5EF4-FFF2-40B4-BE49-F238E27FC236}">
                <a16:creationId xmlns:a16="http://schemas.microsoft.com/office/drawing/2014/main" id="{EB1AF78E-E64E-4BA0-29EC-E13B82DCC0E5}"/>
              </a:ext>
            </a:extLst>
          </p:cNvPr>
          <p:cNvSpPr txBox="1"/>
          <p:nvPr/>
        </p:nvSpPr>
        <p:spPr>
          <a:xfrm>
            <a:off x="444500" y="952500"/>
            <a:ext cx="7880350" cy="394532"/>
          </a:xfrm>
          <a:prstGeom prst="rect">
            <a:avLst/>
          </a:prstGeom>
          <a:noFill/>
        </p:spPr>
        <p:txBody>
          <a:bodyPr wrap="square" rtlCol="0">
            <a:spAutoFit/>
          </a:bodyPr>
          <a:lstStyle/>
          <a:p>
            <a:pPr marL="571500" lvl="1">
              <a:lnSpc>
                <a:spcPct val="115000"/>
              </a:lnSpc>
              <a:buSzPts val="1800"/>
            </a:pPr>
            <a:r>
              <a:rPr lang="en-GB" sz="1800" dirty="0">
                <a:latin typeface="Google Sans"/>
                <a:ea typeface="Google Sans"/>
                <a:cs typeface="Google Sans"/>
                <a:sym typeface="Google Sans"/>
              </a:rPr>
              <a:t>c.	USP of the proposed solution</a:t>
            </a:r>
          </a:p>
        </p:txBody>
      </p:sp>
      <p:sp>
        <p:nvSpPr>
          <p:cNvPr id="4" name="TextBox 3">
            <a:extLst>
              <a:ext uri="{FF2B5EF4-FFF2-40B4-BE49-F238E27FC236}">
                <a16:creationId xmlns:a16="http://schemas.microsoft.com/office/drawing/2014/main" id="{83FF0307-8AFC-849C-EC8E-2F07412C7AA0}"/>
              </a:ext>
            </a:extLst>
          </p:cNvPr>
          <p:cNvSpPr txBox="1"/>
          <p:nvPr/>
        </p:nvSpPr>
        <p:spPr>
          <a:xfrm>
            <a:off x="1020829" y="1459963"/>
            <a:ext cx="7608015" cy="2031325"/>
          </a:xfrm>
          <a:prstGeom prst="rect">
            <a:avLst/>
          </a:prstGeom>
          <a:noFill/>
        </p:spPr>
        <p:txBody>
          <a:bodyPr wrap="square" rtlCol="0">
            <a:spAutoFit/>
          </a:bodyPr>
          <a:lstStyle/>
          <a:p>
            <a:r>
              <a:rPr lang="en-US" b="1" dirty="0" err="1"/>
              <a:t>ResourceIQ</a:t>
            </a:r>
            <a:r>
              <a:rPr lang="en-US" b="1" dirty="0"/>
              <a:t> doesn't react to crises — it prevents them.</a:t>
            </a:r>
          </a:p>
          <a:p>
            <a:endParaRPr lang="en-US" dirty="0"/>
          </a:p>
          <a:p>
            <a:pPr marL="285750" indent="-285750">
              <a:buFont typeface="Arial" panose="020B0604020202020204" pitchFamily="34" charset="0"/>
              <a:buChar char="•"/>
            </a:pPr>
            <a:r>
              <a:rPr lang="en-US" dirty="0"/>
              <a:t>Only solution that detects </a:t>
            </a:r>
            <a:r>
              <a:rPr lang="en-US" b="1" dirty="0"/>
              <a:t>active misallocation</a:t>
            </a:r>
            <a:r>
              <a:rPr lang="en-US" dirty="0"/>
              <a:t>, not just shows availability</a:t>
            </a:r>
          </a:p>
          <a:p>
            <a:pPr marL="285750" indent="-285750">
              <a:buFont typeface="Arial" panose="020B0604020202020204" pitchFamily="34" charset="0"/>
              <a:buChar char="•"/>
            </a:pPr>
            <a:r>
              <a:rPr lang="en-US" dirty="0"/>
              <a:t>Shifts coordination from </a:t>
            </a:r>
            <a:r>
              <a:rPr lang="en-US" b="1" dirty="0"/>
              <a:t>reactive to predictive</a:t>
            </a:r>
            <a:r>
              <a:rPr lang="en-US" dirty="0"/>
              <a:t> using historical patterns</a:t>
            </a:r>
          </a:p>
          <a:p>
            <a:pPr marL="285750" indent="-285750">
              <a:buFont typeface="Arial" panose="020B0604020202020204" pitchFamily="34" charset="0"/>
              <a:buChar char="•"/>
            </a:pPr>
            <a:r>
              <a:rPr lang="en-US" dirty="0"/>
              <a:t>Flags at-risk zones </a:t>
            </a:r>
            <a:r>
              <a:rPr lang="en-US" b="1" dirty="0"/>
              <a:t>before</a:t>
            </a:r>
            <a:r>
              <a:rPr lang="en-US" dirty="0"/>
              <a:t> they hit crisis point</a:t>
            </a:r>
          </a:p>
          <a:p>
            <a:pPr marL="285750" indent="-285750">
              <a:buFont typeface="Arial" panose="020B0604020202020204" pitchFamily="34" charset="0"/>
              <a:buChar char="•"/>
            </a:pPr>
            <a:r>
              <a:rPr lang="en-US" dirty="0"/>
              <a:t>Combines misallocation detection + heatmaps + urgency scoring + prescriptive recommendations in one engine</a:t>
            </a:r>
          </a:p>
          <a:p>
            <a:pPr marL="285750" indent="-285750">
              <a:buFont typeface="Arial" panose="020B0604020202020204" pitchFamily="34" charset="0"/>
              <a:buChar char="•"/>
            </a:pPr>
            <a:r>
              <a:rPr lang="en-US" dirty="0"/>
              <a:t>Every decision is </a:t>
            </a:r>
            <a:r>
              <a:rPr lang="en-US" b="1" dirty="0"/>
              <a:t>data-backed and fully auditable</a:t>
            </a:r>
            <a:endParaRPr lang="en-US" dirty="0"/>
          </a:p>
          <a:p>
            <a:pPr marL="285750" indent="-285750">
              <a:buFont typeface="Arial" panose="020B0604020202020204" pitchFamily="34" charset="0"/>
              <a:buChar char="•"/>
            </a:pPr>
            <a:r>
              <a:rPr lang="en-US" dirty="0"/>
              <a:t>Built specifically for on-ground NGO coordinators — not adapted from corporate tools</a:t>
            </a:r>
          </a:p>
        </p:txBody>
      </p:sp>
    </p:spTree>
    <p:extLst>
      <p:ext uri="{BB962C8B-B14F-4D97-AF65-F5344CB8AC3E}">
        <p14:creationId xmlns:p14="http://schemas.microsoft.com/office/powerpoint/2010/main" val="3112771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List of features offered by the solution</a:t>
            </a:r>
          </a:p>
          <a:p>
            <a:pPr marL="0" marR="0" lvl="0" indent="0" algn="l" rtl="0">
              <a:lnSpc>
                <a:spcPct val="100000"/>
              </a:lnSpc>
              <a:spcBef>
                <a:spcPts val="0"/>
              </a:spcBef>
              <a:spcAft>
                <a:spcPts val="0"/>
              </a:spcAft>
              <a:buClr>
                <a:srgbClr val="000000"/>
              </a:buClr>
              <a:buSzPts val="1800"/>
              <a:buFont typeface="Arial"/>
              <a:buNone/>
            </a:pPr>
            <a:endParaRPr lang="en-GB" sz="1800" dirty="0">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2" name="TextBox 1">
            <a:extLst>
              <a:ext uri="{FF2B5EF4-FFF2-40B4-BE49-F238E27FC236}">
                <a16:creationId xmlns:a16="http://schemas.microsoft.com/office/drawing/2014/main" id="{A1D1C0F2-54D7-E5E3-E397-7FD284BF2F4D}"/>
              </a:ext>
            </a:extLst>
          </p:cNvPr>
          <p:cNvSpPr txBox="1"/>
          <p:nvPr/>
        </p:nvSpPr>
        <p:spPr>
          <a:xfrm>
            <a:off x="195475" y="1263435"/>
            <a:ext cx="8807450" cy="3539430"/>
          </a:xfrm>
          <a:prstGeom prst="rect">
            <a:avLst/>
          </a:prstGeom>
          <a:noFill/>
        </p:spPr>
        <p:txBody>
          <a:bodyPr wrap="square" rtlCol="0">
            <a:spAutoFit/>
          </a:bodyPr>
          <a:lstStyle/>
          <a:p>
            <a:r>
              <a:rPr lang="en-US" b="1" dirty="0">
                <a:latin typeface="Google Sans" panose="020B0604020202020204" charset="0"/>
                <a:ea typeface="Google Sans" panose="020B0604020202020204" charset="0"/>
                <a:cs typeface="Google Sans" panose="020B0604020202020204" charset="0"/>
              </a:rPr>
              <a:t>1.  Smart Data Ingestion</a:t>
            </a:r>
          </a:p>
          <a:p>
            <a:r>
              <a:rPr lang="en-US" dirty="0">
                <a:latin typeface="Google Sans" panose="020B0604020202020204" charset="0"/>
                <a:ea typeface="Google Sans" panose="020B0604020202020204" charset="0"/>
                <a:cs typeface="Google Sans" panose="020B0604020202020204" charset="0"/>
              </a:rPr>
              <a:t>Upload field reports, CSVs, PDFs, survey forms</a:t>
            </a:r>
          </a:p>
          <a:p>
            <a:r>
              <a:rPr lang="en-US" dirty="0">
                <a:latin typeface="Google Sans" panose="020B0604020202020204" charset="0"/>
                <a:ea typeface="Google Sans" panose="020B0604020202020204" charset="0"/>
                <a:cs typeface="Google Sans" panose="020B0604020202020204" charset="0"/>
              </a:rPr>
              <a:t>AI normalizes inconsistent formats into a unified structured schema</a:t>
            </a:r>
          </a:p>
          <a:p>
            <a:r>
              <a:rPr lang="en-US" dirty="0">
                <a:latin typeface="Google Sans" panose="020B0604020202020204" charset="0"/>
                <a:ea typeface="Google Sans" panose="020B0604020202020204" charset="0"/>
                <a:cs typeface="Google Sans" panose="020B0604020202020204" charset="0"/>
              </a:rPr>
              <a:t>Detects and flags duplicate or outdated entries automatically</a:t>
            </a:r>
          </a:p>
          <a:p>
            <a:endParaRPr lang="en-US" dirty="0">
              <a:latin typeface="Google Sans" panose="020B0604020202020204" charset="0"/>
              <a:ea typeface="Google Sans" panose="020B0604020202020204" charset="0"/>
              <a:cs typeface="Google Sans" panose="020B0604020202020204" charset="0"/>
            </a:endParaRPr>
          </a:p>
          <a:p>
            <a:r>
              <a:rPr lang="en-US" b="1" dirty="0">
                <a:latin typeface="Google Sans" panose="020B0604020202020204" charset="0"/>
                <a:ea typeface="Google Sans" panose="020B0604020202020204" charset="0"/>
                <a:cs typeface="Google Sans" panose="020B0604020202020204" charset="0"/>
              </a:rPr>
              <a:t>2.  Demand-Supply Gap Heatmaps</a:t>
            </a:r>
          </a:p>
          <a:p>
            <a:r>
              <a:rPr lang="en-US" dirty="0">
                <a:latin typeface="Google Sans" panose="020B0604020202020204" charset="0"/>
                <a:ea typeface="Google Sans" panose="020B0604020202020204" charset="0"/>
                <a:cs typeface="Google Sans" panose="020B0604020202020204" charset="0"/>
              </a:rPr>
              <a:t>Real-time geographic heatmap showing overstaffed vs understaffed zones</a:t>
            </a:r>
          </a:p>
          <a:p>
            <a:r>
              <a:rPr lang="en-US" dirty="0">
                <a:latin typeface="Google Sans" panose="020B0604020202020204" charset="0"/>
                <a:ea typeface="Google Sans" panose="020B0604020202020204" charset="0"/>
                <a:cs typeface="Google Sans" panose="020B0604020202020204" charset="0"/>
              </a:rPr>
              <a:t>Visual gap intensity — darker zones = bigger misallocation</a:t>
            </a:r>
          </a:p>
          <a:p>
            <a:r>
              <a:rPr lang="en-US" dirty="0">
                <a:latin typeface="Google Sans" panose="020B0604020202020204" charset="0"/>
                <a:ea typeface="Google Sans" panose="020B0604020202020204" charset="0"/>
                <a:cs typeface="Google Sans" panose="020B0604020202020204" charset="0"/>
              </a:rPr>
              <a:t>Drill down into any zone to see exact need breakdown</a:t>
            </a:r>
          </a:p>
          <a:p>
            <a:endParaRPr lang="en-US" dirty="0">
              <a:latin typeface="Google Sans" panose="020B0604020202020204" charset="0"/>
              <a:ea typeface="Google Sans" panose="020B0604020202020204" charset="0"/>
              <a:cs typeface="Google Sans" panose="020B0604020202020204" charset="0"/>
            </a:endParaRPr>
          </a:p>
          <a:p>
            <a:r>
              <a:rPr lang="en-US" b="1" dirty="0">
                <a:latin typeface="Google Sans" panose="020B0604020202020204" charset="0"/>
                <a:ea typeface="Google Sans" panose="020B0604020202020204" charset="0"/>
                <a:cs typeface="Google Sans" panose="020B0604020202020204" charset="0"/>
              </a:rPr>
              <a:t>3.  Composite Urgency Scoring</a:t>
            </a:r>
          </a:p>
          <a:p>
            <a:r>
              <a:rPr lang="en-US" dirty="0">
                <a:latin typeface="Google Sans" panose="020B0604020202020204" charset="0"/>
                <a:ea typeface="Google Sans" panose="020B0604020202020204" charset="0"/>
                <a:cs typeface="Google Sans" panose="020B0604020202020204" charset="0"/>
              </a:rPr>
              <a:t>Each zone gets a dynamic urgency score based on population affected, skill gap, duration of need, and current deployment levels</a:t>
            </a:r>
          </a:p>
          <a:p>
            <a:r>
              <a:rPr lang="en-US" dirty="0">
                <a:latin typeface="Google Sans" panose="020B0604020202020204" charset="0"/>
                <a:ea typeface="Google Sans" panose="020B0604020202020204" charset="0"/>
                <a:cs typeface="Google Sans" panose="020B0604020202020204" charset="0"/>
              </a:rPr>
              <a:t>Score updates automatically as new data comes in</a:t>
            </a:r>
          </a:p>
          <a:p>
            <a:r>
              <a:rPr lang="en-US" dirty="0">
                <a:latin typeface="Google Sans" panose="020B0604020202020204" charset="0"/>
                <a:ea typeface="Google Sans" panose="020B0604020202020204" charset="0"/>
                <a:cs typeface="Google Sans" panose="020B0604020202020204" charset="0"/>
              </a:rPr>
              <a:t>Urgency decay modeled — old unverified needs auto-deprioritized</a:t>
            </a:r>
          </a:p>
          <a:p>
            <a:r>
              <a:rPr lang="en-US" dirty="0">
                <a:latin typeface="Google Sans" panose="020B0604020202020204" charset="0"/>
                <a:ea typeface="Google Sans" panose="020B0604020202020204" charset="0"/>
                <a:cs typeface="Google Sans" panose="020B0604020202020204" charset="0"/>
              </a:rPr>
              <a:t>s per region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28;p29" title="frameeeee.png">
            <a:extLst>
              <a:ext uri="{FF2B5EF4-FFF2-40B4-BE49-F238E27FC236}">
                <a16:creationId xmlns:a16="http://schemas.microsoft.com/office/drawing/2014/main" id="{7900C42A-2BEB-79BB-6157-A7AEC7ADE6BF}"/>
              </a:ext>
            </a:extLst>
          </p:cNvPr>
          <p:cNvPicPr preferRelativeResize="0"/>
          <p:nvPr/>
        </p:nvPicPr>
        <p:blipFill>
          <a:blip r:embed="rId2">
            <a:alphaModFix/>
          </a:blip>
          <a:stretch>
            <a:fillRect/>
          </a:stretch>
        </p:blipFill>
        <p:spPr>
          <a:xfrm>
            <a:off x="0" y="0"/>
            <a:ext cx="9144003" cy="589347"/>
          </a:xfrm>
          <a:prstGeom prst="rect">
            <a:avLst/>
          </a:prstGeom>
          <a:noFill/>
          <a:ln>
            <a:noFill/>
          </a:ln>
        </p:spPr>
      </p:pic>
      <p:sp>
        <p:nvSpPr>
          <p:cNvPr id="4" name="TextBox 3">
            <a:extLst>
              <a:ext uri="{FF2B5EF4-FFF2-40B4-BE49-F238E27FC236}">
                <a16:creationId xmlns:a16="http://schemas.microsoft.com/office/drawing/2014/main" id="{68662316-C647-2662-8301-7F73E410A21C}"/>
              </a:ext>
            </a:extLst>
          </p:cNvPr>
          <p:cNvSpPr txBox="1"/>
          <p:nvPr/>
        </p:nvSpPr>
        <p:spPr>
          <a:xfrm>
            <a:off x="463639" y="695118"/>
            <a:ext cx="8300434" cy="3108543"/>
          </a:xfrm>
          <a:prstGeom prst="rect">
            <a:avLst/>
          </a:prstGeom>
          <a:noFill/>
        </p:spPr>
        <p:txBody>
          <a:bodyPr wrap="square">
            <a:spAutoFit/>
          </a:bodyPr>
          <a:lstStyle/>
          <a:p>
            <a:pPr>
              <a:buNone/>
            </a:pPr>
            <a:r>
              <a:rPr lang="en-US" b="1" dirty="0"/>
              <a:t>4.  Predictive Allocation Engine</a:t>
            </a:r>
          </a:p>
          <a:p>
            <a:pPr>
              <a:buFont typeface="Arial" panose="020B0604020202020204" pitchFamily="34" charset="0"/>
              <a:buChar char="•"/>
            </a:pPr>
            <a:r>
              <a:rPr lang="en-US" dirty="0"/>
              <a:t>Learns from historical deployment patterns</a:t>
            </a:r>
          </a:p>
          <a:p>
            <a:pPr>
              <a:buFont typeface="Arial" panose="020B0604020202020204" pitchFamily="34" charset="0"/>
              <a:buChar char="•"/>
            </a:pPr>
            <a:r>
              <a:rPr lang="en-US" dirty="0"/>
              <a:t>Flags zones likely to become understaffed before it happens</a:t>
            </a:r>
          </a:p>
          <a:p>
            <a:pPr>
              <a:buFont typeface="Arial" panose="020B0604020202020204" pitchFamily="34" charset="0"/>
              <a:buChar char="•"/>
            </a:pPr>
            <a:r>
              <a:rPr lang="en-US" dirty="0"/>
              <a:t>Generates specific reallocation prescriptions — </a:t>
            </a:r>
            <a:r>
              <a:rPr lang="en-US" i="1" dirty="0"/>
              <a:t>"Move 4 volunteers from Zone A to Zone C“</a:t>
            </a:r>
          </a:p>
          <a:p>
            <a:pPr>
              <a:buFont typeface="Arial" panose="020B0604020202020204" pitchFamily="34" charset="0"/>
              <a:buChar char="•"/>
            </a:pPr>
            <a:endParaRPr lang="en-US" dirty="0"/>
          </a:p>
          <a:p>
            <a:pPr>
              <a:buNone/>
            </a:pPr>
            <a:r>
              <a:rPr lang="en-US" b="1" dirty="0"/>
              <a:t>5. Audit Trail &amp; Decision Log</a:t>
            </a:r>
          </a:p>
          <a:p>
            <a:pPr>
              <a:buFont typeface="Arial" panose="020B0604020202020204" pitchFamily="34" charset="0"/>
              <a:buChar char="•"/>
            </a:pPr>
            <a:r>
              <a:rPr lang="en-US" dirty="0"/>
              <a:t>Every reallocation action is logged with timestamp, reasoning, and outcome</a:t>
            </a:r>
          </a:p>
          <a:p>
            <a:pPr>
              <a:buFont typeface="Arial" panose="020B0604020202020204" pitchFamily="34" charset="0"/>
              <a:buChar char="•"/>
            </a:pPr>
            <a:r>
              <a:rPr lang="en-US" dirty="0"/>
              <a:t>Coordinators can review past decisions and their effectiveness</a:t>
            </a:r>
          </a:p>
          <a:p>
            <a:pPr>
              <a:buFont typeface="Arial" panose="020B0604020202020204" pitchFamily="34" charset="0"/>
              <a:buChar char="•"/>
            </a:pPr>
            <a:r>
              <a:rPr lang="en-US" dirty="0"/>
              <a:t>Builds institutional memory over time</a:t>
            </a:r>
          </a:p>
          <a:p>
            <a:pPr>
              <a:buFont typeface="Arial" panose="020B0604020202020204" pitchFamily="34" charset="0"/>
              <a:buChar char="•"/>
            </a:pPr>
            <a:endParaRPr lang="en-US" dirty="0"/>
          </a:p>
          <a:p>
            <a:pPr>
              <a:buNone/>
            </a:pPr>
            <a:r>
              <a:rPr lang="en-US" b="1" dirty="0"/>
              <a:t>6. Coordinator Dashboard</a:t>
            </a:r>
          </a:p>
          <a:p>
            <a:pPr>
              <a:buFont typeface="Arial" panose="020B0604020202020204" pitchFamily="34" charset="0"/>
              <a:buChar char="•"/>
            </a:pPr>
            <a:r>
              <a:rPr lang="en-US" dirty="0"/>
              <a:t>Unified view of all zones, scores, and active misallocations</a:t>
            </a:r>
          </a:p>
          <a:p>
            <a:pPr>
              <a:buFont typeface="Arial" panose="020B0604020202020204" pitchFamily="34" charset="0"/>
              <a:buChar char="•"/>
            </a:pPr>
            <a:r>
              <a:rPr lang="en-US" dirty="0"/>
              <a:t>Actionable alerts for critical zones</a:t>
            </a:r>
          </a:p>
          <a:p>
            <a:pPr>
              <a:buFont typeface="Arial" panose="020B0604020202020204" pitchFamily="34" charset="0"/>
              <a:buChar char="•"/>
            </a:pPr>
            <a:r>
              <a:rPr lang="en-US" dirty="0"/>
              <a:t>Historical trend graphs per region</a:t>
            </a:r>
          </a:p>
        </p:txBody>
      </p:sp>
    </p:spTree>
    <p:extLst>
      <p:ext uri="{BB962C8B-B14F-4D97-AF65-F5344CB8AC3E}">
        <p14:creationId xmlns:p14="http://schemas.microsoft.com/office/powerpoint/2010/main" val="1673096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0"/>
          <p:cNvSpPr txBox="1"/>
          <p:nvPr/>
        </p:nvSpPr>
        <p:spPr>
          <a:xfrm>
            <a:off x="195475" y="830775"/>
            <a:ext cx="87720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Process flow diagram or Use-case diagram</a:t>
            </a:r>
            <a:endParaRPr sz="1800" b="0" i="0" u="none" strike="noStrike" cap="none" dirty="0">
              <a:solidFill>
                <a:srgbClr val="000000"/>
              </a:solidFill>
              <a:latin typeface="Google Sans"/>
              <a:ea typeface="Google Sans"/>
              <a:cs typeface="Google Sans"/>
              <a:sym typeface="Google Sans"/>
            </a:endParaRPr>
          </a:p>
        </p:txBody>
      </p:sp>
      <p:pic>
        <p:nvPicPr>
          <p:cNvPr id="134" name="Google Shape;134;p30"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2" name="Rectangle 1">
            <a:extLst>
              <a:ext uri="{FF2B5EF4-FFF2-40B4-BE49-F238E27FC236}">
                <a16:creationId xmlns:a16="http://schemas.microsoft.com/office/drawing/2014/main" id="{069BAD6C-228C-3975-49D5-F045AF1F16CF}"/>
              </a:ext>
            </a:extLst>
          </p:cNvPr>
          <p:cNvSpPr/>
          <p:nvPr/>
        </p:nvSpPr>
        <p:spPr>
          <a:xfrm>
            <a:off x="298450" y="1212850"/>
            <a:ext cx="2038350" cy="74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Field Reports</a:t>
            </a:r>
          </a:p>
          <a:p>
            <a:pPr algn="ctr"/>
            <a:r>
              <a:rPr lang="en-US" dirty="0"/>
              <a:t>(CSV ,PDFs , Surveys)</a:t>
            </a:r>
            <a:endParaRPr lang="en-IN" dirty="0"/>
          </a:p>
        </p:txBody>
      </p:sp>
      <p:sp>
        <p:nvSpPr>
          <p:cNvPr id="5" name="Rectangle 4">
            <a:extLst>
              <a:ext uri="{FF2B5EF4-FFF2-40B4-BE49-F238E27FC236}">
                <a16:creationId xmlns:a16="http://schemas.microsoft.com/office/drawing/2014/main" id="{26CA0AFA-AC20-EB79-DC2C-830E0C1FA779}"/>
              </a:ext>
            </a:extLst>
          </p:cNvPr>
          <p:cNvSpPr/>
          <p:nvPr/>
        </p:nvSpPr>
        <p:spPr>
          <a:xfrm>
            <a:off x="2543125" y="1212850"/>
            <a:ext cx="2038350" cy="74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Program data</a:t>
            </a:r>
          </a:p>
          <a:p>
            <a:pPr algn="ctr"/>
            <a:r>
              <a:rPr lang="en-US" dirty="0"/>
              <a:t>(Forms ,databases )</a:t>
            </a:r>
            <a:endParaRPr lang="en-IN" dirty="0"/>
          </a:p>
        </p:txBody>
      </p:sp>
      <p:sp>
        <p:nvSpPr>
          <p:cNvPr id="6" name="Rectangle 5">
            <a:extLst>
              <a:ext uri="{FF2B5EF4-FFF2-40B4-BE49-F238E27FC236}">
                <a16:creationId xmlns:a16="http://schemas.microsoft.com/office/drawing/2014/main" id="{B79FD337-753C-DBCF-6691-365F6C1720ED}"/>
              </a:ext>
            </a:extLst>
          </p:cNvPr>
          <p:cNvSpPr/>
          <p:nvPr/>
        </p:nvSpPr>
        <p:spPr>
          <a:xfrm>
            <a:off x="4787800" y="1212850"/>
            <a:ext cx="2038350" cy="74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Volunteer Records</a:t>
            </a:r>
          </a:p>
          <a:p>
            <a:pPr algn="ctr"/>
            <a:r>
              <a:rPr lang="en-US" dirty="0"/>
              <a:t>(Skills ,Location ,count)</a:t>
            </a:r>
            <a:endParaRPr lang="en-IN" dirty="0"/>
          </a:p>
        </p:txBody>
      </p:sp>
      <p:sp>
        <p:nvSpPr>
          <p:cNvPr id="7" name="Rectangle 6">
            <a:extLst>
              <a:ext uri="{FF2B5EF4-FFF2-40B4-BE49-F238E27FC236}">
                <a16:creationId xmlns:a16="http://schemas.microsoft.com/office/drawing/2014/main" id="{500A043A-F6A4-1EB7-CC47-F2D3428881E4}"/>
              </a:ext>
            </a:extLst>
          </p:cNvPr>
          <p:cNvSpPr/>
          <p:nvPr/>
        </p:nvSpPr>
        <p:spPr>
          <a:xfrm>
            <a:off x="6980612" y="1212850"/>
            <a:ext cx="2038350" cy="74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Historical logs</a:t>
            </a:r>
          </a:p>
          <a:p>
            <a:pPr algn="ctr"/>
            <a:r>
              <a:rPr lang="en-US" dirty="0"/>
              <a:t>(Past Deployments)</a:t>
            </a:r>
            <a:endParaRPr lang="en-IN" dirty="0"/>
          </a:p>
        </p:txBody>
      </p:sp>
      <p:cxnSp>
        <p:nvCxnSpPr>
          <p:cNvPr id="11" name="Straight Connector 10">
            <a:extLst>
              <a:ext uri="{FF2B5EF4-FFF2-40B4-BE49-F238E27FC236}">
                <a16:creationId xmlns:a16="http://schemas.microsoft.com/office/drawing/2014/main" id="{04D8C6ED-F103-320A-5F41-B6D3E54AD5C5}"/>
              </a:ext>
            </a:extLst>
          </p:cNvPr>
          <p:cNvCxnSpPr>
            <a:stCxn id="2" idx="2"/>
          </p:cNvCxnSpPr>
          <p:nvPr/>
        </p:nvCxnSpPr>
        <p:spPr>
          <a:xfrm>
            <a:off x="1317625" y="1955800"/>
            <a:ext cx="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831FDB8-6E0D-2E8C-CEDA-6A6F70CF8F7D}"/>
              </a:ext>
            </a:extLst>
          </p:cNvPr>
          <p:cNvCxnSpPr>
            <a:cxnSpLocks/>
            <a:stCxn id="5" idx="2"/>
          </p:cNvCxnSpPr>
          <p:nvPr/>
        </p:nvCxnSpPr>
        <p:spPr>
          <a:xfrm>
            <a:off x="3562300" y="1955800"/>
            <a:ext cx="0" cy="342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BD5C986-2A1F-2ABF-6D9B-60B6B3CFD08C}"/>
              </a:ext>
            </a:extLst>
          </p:cNvPr>
          <p:cNvCxnSpPr>
            <a:stCxn id="6" idx="2"/>
          </p:cNvCxnSpPr>
          <p:nvPr/>
        </p:nvCxnSpPr>
        <p:spPr>
          <a:xfrm>
            <a:off x="5806975" y="1955800"/>
            <a:ext cx="0" cy="349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B4EB7E-246C-C656-0944-CE3AE64B98C5}"/>
              </a:ext>
            </a:extLst>
          </p:cNvPr>
          <p:cNvCxnSpPr>
            <a:stCxn id="7" idx="2"/>
          </p:cNvCxnSpPr>
          <p:nvPr/>
        </p:nvCxnSpPr>
        <p:spPr>
          <a:xfrm>
            <a:off x="7999787" y="1955800"/>
            <a:ext cx="0" cy="34290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04B04D1-F28F-5ECE-E7AD-FDC28305E6CB}"/>
              </a:ext>
            </a:extLst>
          </p:cNvPr>
          <p:cNvSpPr/>
          <p:nvPr/>
        </p:nvSpPr>
        <p:spPr>
          <a:xfrm>
            <a:off x="2838450" y="2287825"/>
            <a:ext cx="3657599" cy="5944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Data ingestion</a:t>
            </a:r>
          </a:p>
          <a:p>
            <a:pPr algn="ctr"/>
            <a:r>
              <a:rPr lang="en-US" dirty="0"/>
              <a:t>(Normalize, deduplicate , structure Via  Gemini)</a:t>
            </a:r>
            <a:endParaRPr lang="en-IN" dirty="0"/>
          </a:p>
        </p:txBody>
      </p:sp>
      <p:cxnSp>
        <p:nvCxnSpPr>
          <p:cNvPr id="28" name="Straight Arrow Connector 27">
            <a:extLst>
              <a:ext uri="{FF2B5EF4-FFF2-40B4-BE49-F238E27FC236}">
                <a16:creationId xmlns:a16="http://schemas.microsoft.com/office/drawing/2014/main" id="{D653273C-0650-283D-BA70-9129F684D68D}"/>
              </a:ext>
            </a:extLst>
          </p:cNvPr>
          <p:cNvCxnSpPr/>
          <p:nvPr/>
        </p:nvCxnSpPr>
        <p:spPr>
          <a:xfrm>
            <a:off x="1308100" y="2305050"/>
            <a:ext cx="15303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D6449C7-1C0A-0897-433C-01C71C06526E}"/>
              </a:ext>
            </a:extLst>
          </p:cNvPr>
          <p:cNvCxnSpPr/>
          <p:nvPr/>
        </p:nvCxnSpPr>
        <p:spPr>
          <a:xfrm flipH="1">
            <a:off x="6496049" y="2298700"/>
            <a:ext cx="1503738"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BE541C3-9273-C5DC-FE09-FF15115FF462}"/>
              </a:ext>
            </a:extLst>
          </p:cNvPr>
          <p:cNvSpPr/>
          <p:nvPr/>
        </p:nvSpPr>
        <p:spPr>
          <a:xfrm>
            <a:off x="2847974" y="3129297"/>
            <a:ext cx="3638549" cy="6071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Urgency Scoring Engine</a:t>
            </a:r>
          </a:p>
          <a:p>
            <a:pPr algn="ctr"/>
            <a:r>
              <a:rPr lang="en-US" dirty="0"/>
              <a:t>(Population, skill gap, duration ,deployment)</a:t>
            </a:r>
            <a:endParaRPr lang="en-IN" dirty="0"/>
          </a:p>
        </p:txBody>
      </p:sp>
      <p:cxnSp>
        <p:nvCxnSpPr>
          <p:cNvPr id="33" name="Straight Arrow Connector 32">
            <a:extLst>
              <a:ext uri="{FF2B5EF4-FFF2-40B4-BE49-F238E27FC236}">
                <a16:creationId xmlns:a16="http://schemas.microsoft.com/office/drawing/2014/main" id="{4AD8D8E9-DC75-73A7-813B-7C015749AC9E}"/>
              </a:ext>
            </a:extLst>
          </p:cNvPr>
          <p:cNvCxnSpPr>
            <a:cxnSpLocks/>
            <a:stCxn id="25" idx="2"/>
            <a:endCxn id="31" idx="0"/>
          </p:cNvCxnSpPr>
          <p:nvPr/>
        </p:nvCxnSpPr>
        <p:spPr>
          <a:xfrm flipH="1">
            <a:off x="4667249" y="2882299"/>
            <a:ext cx="1" cy="246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991684A6-95E3-61FB-66BD-A91C725EF5C3}"/>
              </a:ext>
            </a:extLst>
          </p:cNvPr>
          <p:cNvSpPr/>
          <p:nvPr/>
        </p:nvSpPr>
        <p:spPr>
          <a:xfrm>
            <a:off x="2847976" y="3870324"/>
            <a:ext cx="3648073" cy="501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Demand-supply Heatmap</a:t>
            </a:r>
          </a:p>
          <a:p>
            <a:pPr algn="ctr"/>
            <a:r>
              <a:rPr lang="en-US" sz="1200" dirty="0"/>
              <a:t>(Gap visualization per zone on </a:t>
            </a:r>
            <a:r>
              <a:rPr lang="en-US" sz="1200" dirty="0" err="1"/>
              <a:t>GoogleMaps</a:t>
            </a:r>
            <a:r>
              <a:rPr lang="en-US" sz="1200" dirty="0"/>
              <a:t>)</a:t>
            </a:r>
            <a:endParaRPr lang="en-IN" sz="1200" dirty="0"/>
          </a:p>
        </p:txBody>
      </p:sp>
      <p:cxnSp>
        <p:nvCxnSpPr>
          <p:cNvPr id="39" name="Straight Arrow Connector 38">
            <a:extLst>
              <a:ext uri="{FF2B5EF4-FFF2-40B4-BE49-F238E27FC236}">
                <a16:creationId xmlns:a16="http://schemas.microsoft.com/office/drawing/2014/main" id="{E557DF8A-28CE-DA1F-DB2A-AB57ECF8D21B}"/>
              </a:ext>
            </a:extLst>
          </p:cNvPr>
          <p:cNvCxnSpPr>
            <a:stCxn id="31" idx="2"/>
            <a:endCxn id="36" idx="0"/>
          </p:cNvCxnSpPr>
          <p:nvPr/>
        </p:nvCxnSpPr>
        <p:spPr>
          <a:xfrm>
            <a:off x="4667249" y="3736472"/>
            <a:ext cx="4764" cy="133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B67043DF-7183-5017-B95D-EABBC1BD34CB}"/>
              </a:ext>
            </a:extLst>
          </p:cNvPr>
          <p:cNvSpPr/>
          <p:nvPr/>
        </p:nvSpPr>
        <p:spPr>
          <a:xfrm>
            <a:off x="2847976" y="4477498"/>
            <a:ext cx="3648073" cy="501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Smart Allocation Engine</a:t>
            </a:r>
          </a:p>
          <a:p>
            <a:pPr algn="ctr"/>
            <a:r>
              <a:rPr lang="en-US" dirty="0"/>
              <a:t>Urgency + skills + history + capacity</a:t>
            </a:r>
            <a:endParaRPr lang="en-IN" dirty="0"/>
          </a:p>
        </p:txBody>
      </p:sp>
      <p:cxnSp>
        <p:nvCxnSpPr>
          <p:cNvPr id="52" name="Straight Arrow Connector 51">
            <a:extLst>
              <a:ext uri="{FF2B5EF4-FFF2-40B4-BE49-F238E27FC236}">
                <a16:creationId xmlns:a16="http://schemas.microsoft.com/office/drawing/2014/main" id="{6E3F8BEB-6B1B-37F0-5A3B-1E2B0D347395}"/>
              </a:ext>
            </a:extLst>
          </p:cNvPr>
          <p:cNvCxnSpPr>
            <a:cxnSpLocks/>
            <a:stCxn id="36" idx="2"/>
            <a:endCxn id="41" idx="0"/>
          </p:cNvCxnSpPr>
          <p:nvPr/>
        </p:nvCxnSpPr>
        <p:spPr>
          <a:xfrm>
            <a:off x="4672013" y="4371974"/>
            <a:ext cx="0" cy="105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2ADCC73-1198-7041-964B-6E7EB38DD6A7}"/>
              </a:ext>
            </a:extLst>
          </p:cNvPr>
          <p:cNvCxnSpPr>
            <a:cxnSpLocks/>
          </p:cNvCxnSpPr>
          <p:nvPr/>
        </p:nvCxnSpPr>
        <p:spPr>
          <a:xfrm flipV="1">
            <a:off x="6750050" y="4121149"/>
            <a:ext cx="6350" cy="946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B2E1E79-99EB-F283-C565-D9842B065BF2}"/>
              </a:ext>
            </a:extLst>
          </p:cNvPr>
          <p:cNvCxnSpPr/>
          <p:nvPr/>
        </p:nvCxnSpPr>
        <p:spPr>
          <a:xfrm>
            <a:off x="6743700" y="4121149"/>
            <a:ext cx="400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1451C197-99E2-805B-4F6C-27ED77E9054A}"/>
              </a:ext>
            </a:extLst>
          </p:cNvPr>
          <p:cNvSpPr/>
          <p:nvPr/>
        </p:nvSpPr>
        <p:spPr>
          <a:xfrm>
            <a:off x="7124700" y="3384550"/>
            <a:ext cx="1939922" cy="11901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Reallocation prescription</a:t>
            </a:r>
          </a:p>
          <a:p>
            <a:pPr algn="ctr"/>
            <a:r>
              <a:rPr lang="en-US" dirty="0"/>
              <a:t>(Move N volunteers from Zone A -&gt; Zone B</a:t>
            </a:r>
            <a:endParaRPr lang="en-IN" dirty="0"/>
          </a:p>
        </p:txBody>
      </p:sp>
      <p:cxnSp>
        <p:nvCxnSpPr>
          <p:cNvPr id="130" name="Straight Connector 129">
            <a:extLst>
              <a:ext uri="{FF2B5EF4-FFF2-40B4-BE49-F238E27FC236}">
                <a16:creationId xmlns:a16="http://schemas.microsoft.com/office/drawing/2014/main" id="{2152FBF4-A82B-120C-1562-3ACD47FFE9B7}"/>
              </a:ext>
            </a:extLst>
          </p:cNvPr>
          <p:cNvCxnSpPr>
            <a:stCxn id="41" idx="2"/>
          </p:cNvCxnSpPr>
          <p:nvPr/>
        </p:nvCxnSpPr>
        <p:spPr>
          <a:xfrm flipH="1">
            <a:off x="4667249" y="4979141"/>
            <a:ext cx="4764" cy="881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F99E7D38-F5B4-AF7F-CC85-487BF0442D96}"/>
              </a:ext>
            </a:extLst>
          </p:cNvPr>
          <p:cNvCxnSpPr>
            <a:cxnSpLocks/>
          </p:cNvCxnSpPr>
          <p:nvPr/>
        </p:nvCxnSpPr>
        <p:spPr>
          <a:xfrm>
            <a:off x="4667249" y="5073650"/>
            <a:ext cx="20891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FB138938-F954-7ECD-A566-C49048B40524}"/>
              </a:ext>
            </a:extLst>
          </p:cNvPr>
          <p:cNvCxnSpPr/>
          <p:nvPr/>
        </p:nvCxnSpPr>
        <p:spPr>
          <a:xfrm flipH="1">
            <a:off x="6496049" y="2660650"/>
            <a:ext cx="15938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07DE0B5C-4A79-94EE-4190-27878AE137A7}"/>
              </a:ext>
            </a:extLst>
          </p:cNvPr>
          <p:cNvSpPr txBox="1"/>
          <p:nvPr/>
        </p:nvSpPr>
        <p:spPr>
          <a:xfrm>
            <a:off x="6728198" y="2399559"/>
            <a:ext cx="1271589" cy="738664"/>
          </a:xfrm>
          <a:prstGeom prst="rect">
            <a:avLst/>
          </a:prstGeom>
          <a:noFill/>
        </p:spPr>
        <p:txBody>
          <a:bodyPr wrap="square" rtlCol="0">
            <a:spAutoFit/>
          </a:bodyPr>
          <a:lstStyle/>
          <a:p>
            <a:r>
              <a:rPr lang="en-US" dirty="0"/>
              <a:t>Historical logs are sent back for to AI</a:t>
            </a:r>
            <a:endParaRPr lang="en-IN" dirty="0"/>
          </a:p>
        </p:txBody>
      </p:sp>
      <p:cxnSp>
        <p:nvCxnSpPr>
          <p:cNvPr id="151" name="Straight Connector 150">
            <a:extLst>
              <a:ext uri="{FF2B5EF4-FFF2-40B4-BE49-F238E27FC236}">
                <a16:creationId xmlns:a16="http://schemas.microsoft.com/office/drawing/2014/main" id="{1DF52064-8861-D995-C02F-69A8127C552C}"/>
              </a:ext>
            </a:extLst>
          </p:cNvPr>
          <p:cNvCxnSpPr>
            <a:endCxn id="61" idx="0"/>
          </p:cNvCxnSpPr>
          <p:nvPr/>
        </p:nvCxnSpPr>
        <p:spPr>
          <a:xfrm>
            <a:off x="8089900" y="2660650"/>
            <a:ext cx="4761" cy="7239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0302E"/>
        </a:solidFill>
        <a:effectLst/>
      </p:bgPr>
    </p:bg>
    <p:spTree>
      <p:nvGrpSpPr>
        <p:cNvPr id="1" name="Shape 138"/>
        <p:cNvGrpSpPr/>
        <p:nvPr/>
      </p:nvGrpSpPr>
      <p:grpSpPr>
        <a:xfrm>
          <a:off x="0" y="0"/>
          <a:ext cx="0" cy="0"/>
          <a:chOff x="0" y="0"/>
          <a:chExt cx="0" cy="0"/>
        </a:xfrm>
      </p:grpSpPr>
      <p:sp>
        <p:nvSpPr>
          <p:cNvPr id="139" name="Google Shape;139;p31"/>
          <p:cNvSpPr txBox="1"/>
          <p:nvPr/>
        </p:nvSpPr>
        <p:spPr>
          <a:xfrm>
            <a:off x="207700" y="879650"/>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bg1"/>
                </a:solidFill>
                <a:latin typeface="Google Sans"/>
                <a:ea typeface="Google Sans"/>
                <a:cs typeface="Google Sans"/>
                <a:sym typeface="Google Sans"/>
              </a:rPr>
              <a:t>Wireframes/Mock diagrams of the proposed solution (optional)</a:t>
            </a:r>
            <a:endParaRPr sz="1800" b="0" i="0" u="none" strike="noStrike" cap="none" dirty="0">
              <a:solidFill>
                <a:schemeClr val="bg1"/>
              </a:solidFill>
              <a:latin typeface="Google Sans"/>
              <a:ea typeface="Google Sans"/>
              <a:cs typeface="Google Sans"/>
              <a:sym typeface="Google Sans"/>
            </a:endParaRPr>
          </a:p>
        </p:txBody>
      </p:sp>
      <p:pic>
        <p:nvPicPr>
          <p:cNvPr id="140" name="Google Shape;140;p31"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2" name="Rectangle 1">
            <a:extLst>
              <a:ext uri="{FF2B5EF4-FFF2-40B4-BE49-F238E27FC236}">
                <a16:creationId xmlns:a16="http://schemas.microsoft.com/office/drawing/2014/main" id="{CF71F6C0-4619-FD60-1CFE-EE36C006F706}"/>
              </a:ext>
            </a:extLst>
          </p:cNvPr>
          <p:cNvSpPr/>
          <p:nvPr/>
        </p:nvSpPr>
        <p:spPr>
          <a:xfrm>
            <a:off x="311150" y="1257300"/>
            <a:ext cx="8723100" cy="3746500"/>
          </a:xfrm>
          <a:prstGeom prst="rect">
            <a:avLst/>
          </a:prstGeom>
          <a:solidFill>
            <a:srgbClr val="30302E"/>
          </a:solidFill>
          <a:ln>
            <a:solidFill>
              <a:srgbClr val="9A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 name="Straight Connector 3">
            <a:extLst>
              <a:ext uri="{FF2B5EF4-FFF2-40B4-BE49-F238E27FC236}">
                <a16:creationId xmlns:a16="http://schemas.microsoft.com/office/drawing/2014/main" id="{F52D5287-DAFB-6D43-6B3D-E6F39470AB02}"/>
              </a:ext>
            </a:extLst>
          </p:cNvPr>
          <p:cNvCxnSpPr/>
          <p:nvPr/>
        </p:nvCxnSpPr>
        <p:spPr>
          <a:xfrm>
            <a:off x="311150" y="1676400"/>
            <a:ext cx="872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74092A3-5166-289B-705F-299B9BCA38B8}"/>
              </a:ext>
            </a:extLst>
          </p:cNvPr>
          <p:cNvCxnSpPr>
            <a:cxnSpLocks/>
          </p:cNvCxnSpPr>
          <p:nvPr/>
        </p:nvCxnSpPr>
        <p:spPr>
          <a:xfrm>
            <a:off x="2006600" y="1676400"/>
            <a:ext cx="0" cy="3378200"/>
          </a:xfrm>
          <a:prstGeom prst="line">
            <a:avLst/>
          </a:prstGeom>
          <a:ln>
            <a:solidFill>
              <a:srgbClr val="9F9F9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A554705-FA5F-123D-F04E-32D36303A63D}"/>
              </a:ext>
            </a:extLst>
          </p:cNvPr>
          <p:cNvSpPr txBox="1"/>
          <p:nvPr/>
        </p:nvSpPr>
        <p:spPr>
          <a:xfrm>
            <a:off x="431800" y="1365250"/>
            <a:ext cx="3822700" cy="307777"/>
          </a:xfrm>
          <a:prstGeom prst="rect">
            <a:avLst/>
          </a:prstGeom>
          <a:noFill/>
        </p:spPr>
        <p:txBody>
          <a:bodyPr wrap="square" rtlCol="0">
            <a:spAutoFit/>
          </a:bodyPr>
          <a:lstStyle/>
          <a:p>
            <a:r>
              <a:rPr lang="en-IN" dirty="0" err="1">
                <a:solidFill>
                  <a:srgbClr val="00B050"/>
                </a:solidFill>
              </a:rPr>
              <a:t>Resource</a:t>
            </a:r>
            <a:r>
              <a:rPr lang="en-IN" dirty="0" err="1">
                <a:solidFill>
                  <a:schemeClr val="bg1"/>
                </a:solidFill>
              </a:rPr>
              <a:t>IQ</a:t>
            </a:r>
            <a:r>
              <a:rPr lang="en-IN" dirty="0">
                <a:solidFill>
                  <a:schemeClr val="bg1"/>
                </a:solidFill>
              </a:rPr>
              <a:t> — Coordinator Dashboard</a:t>
            </a:r>
          </a:p>
        </p:txBody>
      </p:sp>
      <p:sp>
        <p:nvSpPr>
          <p:cNvPr id="14" name="TextBox 13">
            <a:extLst>
              <a:ext uri="{FF2B5EF4-FFF2-40B4-BE49-F238E27FC236}">
                <a16:creationId xmlns:a16="http://schemas.microsoft.com/office/drawing/2014/main" id="{08FCFCDB-CAF7-01EB-646A-DC275AC38059}"/>
              </a:ext>
            </a:extLst>
          </p:cNvPr>
          <p:cNvSpPr txBox="1"/>
          <p:nvPr/>
        </p:nvSpPr>
        <p:spPr>
          <a:xfrm>
            <a:off x="431799" y="1791381"/>
            <a:ext cx="1193799" cy="307777"/>
          </a:xfrm>
          <a:prstGeom prst="rect">
            <a:avLst/>
          </a:prstGeom>
          <a:noFill/>
        </p:spPr>
        <p:txBody>
          <a:bodyPr wrap="square" rtlCol="0">
            <a:spAutoFit/>
          </a:bodyPr>
          <a:lstStyle/>
          <a:p>
            <a:r>
              <a:rPr lang="en-US" dirty="0">
                <a:solidFill>
                  <a:schemeClr val="bg1"/>
                </a:solidFill>
              </a:rPr>
              <a:t>Navigation</a:t>
            </a:r>
            <a:endParaRPr lang="en-IN" dirty="0">
              <a:solidFill>
                <a:schemeClr val="bg1"/>
              </a:solidFill>
            </a:endParaRPr>
          </a:p>
        </p:txBody>
      </p:sp>
      <p:sp>
        <p:nvSpPr>
          <p:cNvPr id="15" name="Oval 14">
            <a:extLst>
              <a:ext uri="{FF2B5EF4-FFF2-40B4-BE49-F238E27FC236}">
                <a16:creationId xmlns:a16="http://schemas.microsoft.com/office/drawing/2014/main" id="{7593C6F8-A8BD-06C9-B996-5AFD6BD6C1F9}"/>
              </a:ext>
            </a:extLst>
          </p:cNvPr>
          <p:cNvSpPr/>
          <p:nvPr/>
        </p:nvSpPr>
        <p:spPr>
          <a:xfrm>
            <a:off x="431799" y="2171700"/>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3A15F881-38BE-AD69-8E27-DC244895F6A9}"/>
              </a:ext>
            </a:extLst>
          </p:cNvPr>
          <p:cNvSpPr txBox="1"/>
          <p:nvPr/>
        </p:nvSpPr>
        <p:spPr>
          <a:xfrm>
            <a:off x="533395" y="2060249"/>
            <a:ext cx="965196" cy="307777"/>
          </a:xfrm>
          <a:prstGeom prst="rect">
            <a:avLst/>
          </a:prstGeom>
          <a:noFill/>
        </p:spPr>
        <p:txBody>
          <a:bodyPr wrap="square" rtlCol="0">
            <a:spAutoFit/>
          </a:bodyPr>
          <a:lstStyle/>
          <a:p>
            <a:r>
              <a:rPr lang="en-US" dirty="0">
                <a:solidFill>
                  <a:schemeClr val="bg1"/>
                </a:solidFill>
              </a:rPr>
              <a:t>Heatmap</a:t>
            </a:r>
            <a:endParaRPr lang="en-IN" dirty="0">
              <a:solidFill>
                <a:schemeClr val="bg1"/>
              </a:solidFill>
            </a:endParaRPr>
          </a:p>
        </p:txBody>
      </p:sp>
      <p:sp>
        <p:nvSpPr>
          <p:cNvPr id="17" name="Oval 16">
            <a:extLst>
              <a:ext uri="{FF2B5EF4-FFF2-40B4-BE49-F238E27FC236}">
                <a16:creationId xmlns:a16="http://schemas.microsoft.com/office/drawing/2014/main" id="{A29110BF-D948-41C3-A412-245FF496D2AF}"/>
              </a:ext>
            </a:extLst>
          </p:cNvPr>
          <p:cNvSpPr/>
          <p:nvPr/>
        </p:nvSpPr>
        <p:spPr>
          <a:xfrm>
            <a:off x="431799" y="2389768"/>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2F8E4B87-E4E8-1406-702C-9C398165A972}"/>
              </a:ext>
            </a:extLst>
          </p:cNvPr>
          <p:cNvSpPr txBox="1"/>
          <p:nvPr/>
        </p:nvSpPr>
        <p:spPr>
          <a:xfrm>
            <a:off x="533395" y="2286679"/>
            <a:ext cx="1371597" cy="307777"/>
          </a:xfrm>
          <a:prstGeom prst="rect">
            <a:avLst/>
          </a:prstGeom>
          <a:noFill/>
        </p:spPr>
        <p:txBody>
          <a:bodyPr wrap="square" rtlCol="0">
            <a:spAutoFit/>
          </a:bodyPr>
          <a:lstStyle/>
          <a:p>
            <a:r>
              <a:rPr lang="en-US" dirty="0">
                <a:solidFill>
                  <a:schemeClr val="bg1"/>
                </a:solidFill>
              </a:rPr>
              <a:t>Zone details</a:t>
            </a:r>
            <a:endParaRPr lang="en-IN" dirty="0">
              <a:solidFill>
                <a:schemeClr val="bg1"/>
              </a:solidFill>
            </a:endParaRPr>
          </a:p>
        </p:txBody>
      </p:sp>
      <p:sp>
        <p:nvSpPr>
          <p:cNvPr id="19" name="Oval 18">
            <a:extLst>
              <a:ext uri="{FF2B5EF4-FFF2-40B4-BE49-F238E27FC236}">
                <a16:creationId xmlns:a16="http://schemas.microsoft.com/office/drawing/2014/main" id="{73D92340-00E7-5E21-2388-2A1008DEC74E}"/>
              </a:ext>
            </a:extLst>
          </p:cNvPr>
          <p:cNvSpPr/>
          <p:nvPr/>
        </p:nvSpPr>
        <p:spPr>
          <a:xfrm>
            <a:off x="431799" y="2636894"/>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81317553-3DBC-E295-741E-44D501BFAB65}"/>
              </a:ext>
            </a:extLst>
          </p:cNvPr>
          <p:cNvSpPr txBox="1"/>
          <p:nvPr/>
        </p:nvSpPr>
        <p:spPr>
          <a:xfrm>
            <a:off x="533395" y="2527608"/>
            <a:ext cx="1371586" cy="307777"/>
          </a:xfrm>
          <a:prstGeom prst="rect">
            <a:avLst/>
          </a:prstGeom>
          <a:noFill/>
        </p:spPr>
        <p:txBody>
          <a:bodyPr wrap="square" rtlCol="0">
            <a:spAutoFit/>
          </a:bodyPr>
          <a:lstStyle/>
          <a:p>
            <a:r>
              <a:rPr lang="en-US" dirty="0">
                <a:solidFill>
                  <a:schemeClr val="bg1"/>
                </a:solidFill>
              </a:rPr>
              <a:t>Upload Data</a:t>
            </a:r>
            <a:endParaRPr lang="en-IN" dirty="0">
              <a:solidFill>
                <a:schemeClr val="bg1"/>
              </a:solidFill>
            </a:endParaRPr>
          </a:p>
        </p:txBody>
      </p:sp>
      <p:sp>
        <p:nvSpPr>
          <p:cNvPr id="22" name="TextBox 21">
            <a:extLst>
              <a:ext uri="{FF2B5EF4-FFF2-40B4-BE49-F238E27FC236}">
                <a16:creationId xmlns:a16="http://schemas.microsoft.com/office/drawing/2014/main" id="{9ACE8B1E-F4F9-6127-7843-7A2A284CA7F3}"/>
              </a:ext>
            </a:extLst>
          </p:cNvPr>
          <p:cNvSpPr txBox="1"/>
          <p:nvPr/>
        </p:nvSpPr>
        <p:spPr>
          <a:xfrm>
            <a:off x="431799" y="2921242"/>
            <a:ext cx="1181103" cy="307777"/>
          </a:xfrm>
          <a:prstGeom prst="rect">
            <a:avLst/>
          </a:prstGeom>
          <a:noFill/>
        </p:spPr>
        <p:txBody>
          <a:bodyPr wrap="square" rtlCol="0">
            <a:spAutoFit/>
          </a:bodyPr>
          <a:lstStyle/>
          <a:p>
            <a:r>
              <a:rPr lang="en-US" dirty="0">
                <a:solidFill>
                  <a:schemeClr val="bg1"/>
                </a:solidFill>
              </a:rPr>
              <a:t>FILTERS</a:t>
            </a:r>
            <a:endParaRPr lang="en-IN" dirty="0">
              <a:solidFill>
                <a:schemeClr val="bg1"/>
              </a:solidFill>
            </a:endParaRPr>
          </a:p>
        </p:txBody>
      </p:sp>
      <p:sp>
        <p:nvSpPr>
          <p:cNvPr id="23" name="TextBox 22">
            <a:extLst>
              <a:ext uri="{FF2B5EF4-FFF2-40B4-BE49-F238E27FC236}">
                <a16:creationId xmlns:a16="http://schemas.microsoft.com/office/drawing/2014/main" id="{2CA01F36-B70B-F0B1-F7DC-296C610D8450}"/>
              </a:ext>
            </a:extLst>
          </p:cNvPr>
          <p:cNvSpPr txBox="1"/>
          <p:nvPr/>
        </p:nvSpPr>
        <p:spPr>
          <a:xfrm>
            <a:off x="482597" y="3196933"/>
            <a:ext cx="1727201" cy="738664"/>
          </a:xfrm>
          <a:prstGeom prst="rect">
            <a:avLst/>
          </a:prstGeom>
          <a:noFill/>
        </p:spPr>
        <p:txBody>
          <a:bodyPr wrap="square" rtlCol="0">
            <a:spAutoFit/>
          </a:bodyPr>
          <a:lstStyle/>
          <a:p>
            <a:r>
              <a:rPr lang="en-US" dirty="0">
                <a:solidFill>
                  <a:schemeClr val="bg1"/>
                </a:solidFill>
              </a:rPr>
              <a:t>Medical Needs</a:t>
            </a:r>
          </a:p>
          <a:p>
            <a:r>
              <a:rPr lang="en-US" dirty="0">
                <a:solidFill>
                  <a:schemeClr val="bg1"/>
                </a:solidFill>
              </a:rPr>
              <a:t>Logistic Needs</a:t>
            </a:r>
          </a:p>
          <a:p>
            <a:r>
              <a:rPr lang="en-US" dirty="0">
                <a:solidFill>
                  <a:schemeClr val="bg1"/>
                </a:solidFill>
              </a:rPr>
              <a:t>Education Needs</a:t>
            </a:r>
            <a:endParaRPr lang="en-IN" dirty="0">
              <a:solidFill>
                <a:schemeClr val="bg1"/>
              </a:solidFill>
            </a:endParaRPr>
          </a:p>
        </p:txBody>
      </p:sp>
      <p:sp>
        <p:nvSpPr>
          <p:cNvPr id="24" name="Oval 23">
            <a:extLst>
              <a:ext uri="{FF2B5EF4-FFF2-40B4-BE49-F238E27FC236}">
                <a16:creationId xmlns:a16="http://schemas.microsoft.com/office/drawing/2014/main" id="{BD0DED47-94D7-36D4-D498-BC24B4AF9032}"/>
              </a:ext>
            </a:extLst>
          </p:cNvPr>
          <p:cNvSpPr/>
          <p:nvPr/>
        </p:nvSpPr>
        <p:spPr>
          <a:xfrm>
            <a:off x="431799" y="3314700"/>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EB8404B3-7A9E-7630-17CF-4881A7BB9FFA}"/>
              </a:ext>
            </a:extLst>
          </p:cNvPr>
          <p:cNvSpPr/>
          <p:nvPr/>
        </p:nvSpPr>
        <p:spPr>
          <a:xfrm>
            <a:off x="431799" y="3527640"/>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88B7B967-DDC0-11F1-2DB9-B225789C25B9}"/>
              </a:ext>
            </a:extLst>
          </p:cNvPr>
          <p:cNvSpPr/>
          <p:nvPr/>
        </p:nvSpPr>
        <p:spPr>
          <a:xfrm>
            <a:off x="431799" y="3754418"/>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9C5C602E-1BC4-8EC7-8DCC-2CDAF98ABA6E}"/>
              </a:ext>
            </a:extLst>
          </p:cNvPr>
          <p:cNvSpPr txBox="1"/>
          <p:nvPr/>
        </p:nvSpPr>
        <p:spPr>
          <a:xfrm>
            <a:off x="431799" y="4025900"/>
            <a:ext cx="1079507" cy="307777"/>
          </a:xfrm>
          <a:prstGeom prst="rect">
            <a:avLst/>
          </a:prstGeom>
          <a:noFill/>
        </p:spPr>
        <p:txBody>
          <a:bodyPr wrap="square" rtlCol="0">
            <a:spAutoFit/>
          </a:bodyPr>
          <a:lstStyle/>
          <a:p>
            <a:r>
              <a:rPr lang="en-US" dirty="0">
                <a:solidFill>
                  <a:schemeClr val="bg1"/>
                </a:solidFill>
              </a:rPr>
              <a:t>REPORTS</a:t>
            </a:r>
            <a:endParaRPr lang="en-IN" dirty="0">
              <a:solidFill>
                <a:schemeClr val="bg1"/>
              </a:solidFill>
            </a:endParaRPr>
          </a:p>
        </p:txBody>
      </p:sp>
      <p:sp>
        <p:nvSpPr>
          <p:cNvPr id="28" name="Oval 27">
            <a:extLst>
              <a:ext uri="{FF2B5EF4-FFF2-40B4-BE49-F238E27FC236}">
                <a16:creationId xmlns:a16="http://schemas.microsoft.com/office/drawing/2014/main" id="{AC3A0D61-ED2B-B91B-4B0E-A29A15BAFF14}"/>
              </a:ext>
            </a:extLst>
          </p:cNvPr>
          <p:cNvSpPr/>
          <p:nvPr/>
        </p:nvSpPr>
        <p:spPr>
          <a:xfrm>
            <a:off x="438144" y="4342721"/>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BD3C7861-43FF-408A-51DE-CD93511040B3}"/>
              </a:ext>
            </a:extLst>
          </p:cNvPr>
          <p:cNvSpPr/>
          <p:nvPr/>
        </p:nvSpPr>
        <p:spPr>
          <a:xfrm>
            <a:off x="419097" y="4580802"/>
            <a:ext cx="101596" cy="101600"/>
          </a:xfrm>
          <a:prstGeom prst="ellipse">
            <a:avLst/>
          </a:prstGeom>
          <a:solidFill>
            <a:srgbClr val="9A9F9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A20F3DE6-7F15-A892-FF3F-51CDDE042974}"/>
              </a:ext>
            </a:extLst>
          </p:cNvPr>
          <p:cNvSpPr txBox="1"/>
          <p:nvPr/>
        </p:nvSpPr>
        <p:spPr>
          <a:xfrm>
            <a:off x="482597" y="4257916"/>
            <a:ext cx="1682746" cy="523220"/>
          </a:xfrm>
          <a:prstGeom prst="rect">
            <a:avLst/>
          </a:prstGeom>
          <a:noFill/>
        </p:spPr>
        <p:txBody>
          <a:bodyPr wrap="square" rtlCol="0">
            <a:spAutoFit/>
          </a:bodyPr>
          <a:lstStyle/>
          <a:p>
            <a:r>
              <a:rPr lang="en-US" dirty="0">
                <a:solidFill>
                  <a:schemeClr val="bg1"/>
                </a:solidFill>
              </a:rPr>
              <a:t>Weekly Summary</a:t>
            </a:r>
          </a:p>
          <a:p>
            <a:r>
              <a:rPr lang="en-US" dirty="0">
                <a:solidFill>
                  <a:schemeClr val="bg1"/>
                </a:solidFill>
              </a:rPr>
              <a:t>Historical Trends</a:t>
            </a:r>
            <a:endParaRPr lang="en-IN" dirty="0">
              <a:solidFill>
                <a:schemeClr val="bg1"/>
              </a:solidFill>
            </a:endParaRPr>
          </a:p>
        </p:txBody>
      </p:sp>
      <p:cxnSp>
        <p:nvCxnSpPr>
          <p:cNvPr id="32" name="Straight Connector 31">
            <a:extLst>
              <a:ext uri="{FF2B5EF4-FFF2-40B4-BE49-F238E27FC236}">
                <a16:creationId xmlns:a16="http://schemas.microsoft.com/office/drawing/2014/main" id="{2D485183-9599-CFB0-28BB-9459F2CC8065}"/>
              </a:ext>
            </a:extLst>
          </p:cNvPr>
          <p:cNvCxnSpPr/>
          <p:nvPr/>
        </p:nvCxnSpPr>
        <p:spPr>
          <a:xfrm>
            <a:off x="6635750" y="1673027"/>
            <a:ext cx="0" cy="3330773"/>
          </a:xfrm>
          <a:prstGeom prst="line">
            <a:avLst/>
          </a:prstGeom>
          <a:ln>
            <a:solidFill>
              <a:srgbClr val="9A9F9F"/>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251A88-AD84-B8D6-73CD-2B385D9B7B3E}"/>
              </a:ext>
            </a:extLst>
          </p:cNvPr>
          <p:cNvCxnSpPr/>
          <p:nvPr/>
        </p:nvCxnSpPr>
        <p:spPr>
          <a:xfrm>
            <a:off x="2006600" y="2527608"/>
            <a:ext cx="4641850" cy="0"/>
          </a:xfrm>
          <a:prstGeom prst="line">
            <a:avLst/>
          </a:prstGeom>
          <a:ln>
            <a:solidFill>
              <a:srgbClr val="9F9F9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9214F31-1482-2151-6DE9-D7AA8F571F7A}"/>
              </a:ext>
            </a:extLst>
          </p:cNvPr>
          <p:cNvCxnSpPr/>
          <p:nvPr/>
        </p:nvCxnSpPr>
        <p:spPr>
          <a:xfrm>
            <a:off x="2006600" y="3560223"/>
            <a:ext cx="4641850" cy="0"/>
          </a:xfrm>
          <a:prstGeom prst="line">
            <a:avLst/>
          </a:prstGeom>
          <a:ln>
            <a:solidFill>
              <a:srgbClr val="9F9F9F"/>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6C55481-5106-8CDB-5F2F-C5D6633C34AC}"/>
              </a:ext>
            </a:extLst>
          </p:cNvPr>
          <p:cNvSpPr txBox="1"/>
          <p:nvPr/>
        </p:nvSpPr>
        <p:spPr>
          <a:xfrm>
            <a:off x="2095500" y="1791381"/>
            <a:ext cx="2190740" cy="954107"/>
          </a:xfrm>
          <a:prstGeom prst="rect">
            <a:avLst/>
          </a:prstGeom>
          <a:noFill/>
        </p:spPr>
        <p:txBody>
          <a:bodyPr wrap="square" rtlCol="0">
            <a:spAutoFit/>
          </a:bodyPr>
          <a:lstStyle/>
          <a:p>
            <a:r>
              <a:rPr lang="en-US" dirty="0">
                <a:solidFill>
                  <a:schemeClr val="bg1"/>
                </a:solidFill>
              </a:rPr>
              <a:t>Demand-supply gap heatmap — Region North</a:t>
            </a:r>
          </a:p>
          <a:p>
            <a:endParaRPr lang="en-IN" dirty="0"/>
          </a:p>
        </p:txBody>
      </p:sp>
      <p:sp>
        <p:nvSpPr>
          <p:cNvPr id="38" name="Rectangle: Rounded Corners 37">
            <a:extLst>
              <a:ext uri="{FF2B5EF4-FFF2-40B4-BE49-F238E27FC236}">
                <a16:creationId xmlns:a16="http://schemas.microsoft.com/office/drawing/2014/main" id="{771F131B-0B9B-6489-C08D-3F33488544E4}"/>
              </a:ext>
            </a:extLst>
          </p:cNvPr>
          <p:cNvSpPr/>
          <p:nvPr/>
        </p:nvSpPr>
        <p:spPr>
          <a:xfrm>
            <a:off x="4083050" y="1791381"/>
            <a:ext cx="1079492" cy="598387"/>
          </a:xfrm>
          <a:prstGeom prst="roundRect">
            <a:avLst/>
          </a:prstGeom>
          <a:solidFill>
            <a:srgbClr val="30302E"/>
          </a:solidFill>
          <a:ln>
            <a:solidFill>
              <a:srgbClr val="9A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Last 7 Days</a:t>
            </a:r>
            <a:endParaRPr lang="en-IN" dirty="0"/>
          </a:p>
        </p:txBody>
      </p:sp>
      <p:sp>
        <p:nvSpPr>
          <p:cNvPr id="39" name="Rectangle: Rounded Corners 38">
            <a:extLst>
              <a:ext uri="{FF2B5EF4-FFF2-40B4-BE49-F238E27FC236}">
                <a16:creationId xmlns:a16="http://schemas.microsoft.com/office/drawing/2014/main" id="{F49BE169-C2CF-DFBE-78CF-CE19AB631C0F}"/>
              </a:ext>
            </a:extLst>
          </p:cNvPr>
          <p:cNvSpPr/>
          <p:nvPr/>
        </p:nvSpPr>
        <p:spPr>
          <a:xfrm>
            <a:off x="5314942" y="1801677"/>
            <a:ext cx="1079492" cy="598387"/>
          </a:xfrm>
          <a:prstGeom prst="roundRect">
            <a:avLst/>
          </a:prstGeom>
          <a:solidFill>
            <a:srgbClr val="30302E"/>
          </a:solidFill>
          <a:ln>
            <a:solidFill>
              <a:srgbClr val="9A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Export</a:t>
            </a:r>
            <a:endParaRPr lang="en-IN" dirty="0"/>
          </a:p>
        </p:txBody>
      </p:sp>
      <p:sp>
        <p:nvSpPr>
          <p:cNvPr id="40" name="Rectangle: Rounded Corners 39">
            <a:extLst>
              <a:ext uri="{FF2B5EF4-FFF2-40B4-BE49-F238E27FC236}">
                <a16:creationId xmlns:a16="http://schemas.microsoft.com/office/drawing/2014/main" id="{008A3F83-C190-1010-B924-89A67C1F628C}"/>
              </a:ext>
            </a:extLst>
          </p:cNvPr>
          <p:cNvSpPr/>
          <p:nvPr/>
        </p:nvSpPr>
        <p:spPr>
          <a:xfrm>
            <a:off x="2152639" y="2615893"/>
            <a:ext cx="1079492" cy="854028"/>
          </a:xfrm>
          <a:prstGeom prst="roundRect">
            <a:avLst/>
          </a:prstGeom>
          <a:solidFill>
            <a:srgbClr val="30302E"/>
          </a:solidFill>
          <a:ln>
            <a:solidFill>
              <a:srgbClr val="9F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Total Zones</a:t>
            </a:r>
          </a:p>
          <a:p>
            <a:pPr algn="ctr"/>
            <a:r>
              <a:rPr lang="en-US" sz="1200" dirty="0"/>
              <a:t>24</a:t>
            </a:r>
          </a:p>
          <a:p>
            <a:pPr algn="ctr"/>
            <a:r>
              <a:rPr lang="en-US" sz="1200" dirty="0">
                <a:solidFill>
                  <a:srgbClr val="FF0000"/>
                </a:solidFill>
              </a:rPr>
              <a:t>3 Critical</a:t>
            </a:r>
            <a:endParaRPr lang="en-IN" sz="1200" dirty="0">
              <a:solidFill>
                <a:srgbClr val="FF0000"/>
              </a:solidFill>
            </a:endParaRPr>
          </a:p>
        </p:txBody>
      </p:sp>
      <p:sp>
        <p:nvSpPr>
          <p:cNvPr id="41" name="Rectangle: Rounded Corners 40">
            <a:extLst>
              <a:ext uri="{FF2B5EF4-FFF2-40B4-BE49-F238E27FC236}">
                <a16:creationId xmlns:a16="http://schemas.microsoft.com/office/drawing/2014/main" id="{E543DF41-4677-F49B-8CC8-A59554007188}"/>
              </a:ext>
            </a:extLst>
          </p:cNvPr>
          <p:cNvSpPr/>
          <p:nvPr/>
        </p:nvSpPr>
        <p:spPr>
          <a:xfrm>
            <a:off x="3385693" y="2628592"/>
            <a:ext cx="1079492" cy="854027"/>
          </a:xfrm>
          <a:prstGeom prst="roundRect">
            <a:avLst/>
          </a:prstGeom>
          <a:solidFill>
            <a:srgbClr val="30302E"/>
          </a:solidFill>
          <a:ln>
            <a:solidFill>
              <a:srgbClr val="9F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Volunteers Deployed</a:t>
            </a:r>
          </a:p>
          <a:p>
            <a:r>
              <a:rPr lang="en-US" sz="1000" dirty="0"/>
              <a:t>312</a:t>
            </a:r>
          </a:p>
          <a:p>
            <a:r>
              <a:rPr lang="en-US" sz="1000" dirty="0">
                <a:solidFill>
                  <a:srgbClr val="FFC000"/>
                </a:solidFill>
              </a:rPr>
              <a:t>48 Misallocat</a:t>
            </a:r>
            <a:r>
              <a:rPr lang="en-US" sz="1200" dirty="0">
                <a:solidFill>
                  <a:srgbClr val="FFC000"/>
                </a:solidFill>
              </a:rPr>
              <a:t>ed</a:t>
            </a:r>
            <a:endParaRPr lang="en-IN" sz="1200" dirty="0">
              <a:solidFill>
                <a:srgbClr val="FFC000"/>
              </a:solidFill>
            </a:endParaRPr>
          </a:p>
        </p:txBody>
      </p:sp>
      <p:sp>
        <p:nvSpPr>
          <p:cNvPr id="42" name="Rectangle: Rounded Corners 41">
            <a:extLst>
              <a:ext uri="{FF2B5EF4-FFF2-40B4-BE49-F238E27FC236}">
                <a16:creationId xmlns:a16="http://schemas.microsoft.com/office/drawing/2014/main" id="{87126F78-CED4-4176-EDF4-20908DE0745A}"/>
              </a:ext>
            </a:extLst>
          </p:cNvPr>
          <p:cNvSpPr/>
          <p:nvPr/>
        </p:nvSpPr>
        <p:spPr>
          <a:xfrm>
            <a:off x="4559298" y="2632188"/>
            <a:ext cx="1079492" cy="833021"/>
          </a:xfrm>
          <a:prstGeom prst="roundRect">
            <a:avLst/>
          </a:prstGeom>
          <a:solidFill>
            <a:srgbClr val="30302E"/>
          </a:solidFill>
          <a:ln>
            <a:solidFill>
              <a:srgbClr val="9F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Avg urgency score</a:t>
            </a:r>
          </a:p>
          <a:p>
            <a:r>
              <a:rPr lang="en-US" sz="1000" dirty="0"/>
              <a:t>6.4</a:t>
            </a:r>
          </a:p>
          <a:p>
            <a:r>
              <a:rPr lang="en-US" sz="1000" dirty="0">
                <a:solidFill>
                  <a:srgbClr val="FFC000"/>
                </a:solidFill>
              </a:rPr>
              <a:t>Up from 5.1</a:t>
            </a:r>
          </a:p>
        </p:txBody>
      </p:sp>
      <p:sp>
        <p:nvSpPr>
          <p:cNvPr id="43" name="Rectangle: Rounded Corners 42">
            <a:extLst>
              <a:ext uri="{FF2B5EF4-FFF2-40B4-BE49-F238E27FC236}">
                <a16:creationId xmlns:a16="http://schemas.microsoft.com/office/drawing/2014/main" id="{7A2F491E-59D4-C907-0362-E057C18DD59D}"/>
              </a:ext>
            </a:extLst>
          </p:cNvPr>
          <p:cNvSpPr/>
          <p:nvPr/>
        </p:nvSpPr>
        <p:spPr>
          <a:xfrm>
            <a:off x="5759448" y="2615892"/>
            <a:ext cx="863599" cy="833021"/>
          </a:xfrm>
          <a:prstGeom prst="roundRect">
            <a:avLst/>
          </a:prstGeom>
          <a:solidFill>
            <a:srgbClr val="30302E"/>
          </a:solidFill>
          <a:ln>
            <a:solidFill>
              <a:srgbClr val="9F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900" dirty="0"/>
              <a:t>Actions pending</a:t>
            </a:r>
          </a:p>
          <a:p>
            <a:r>
              <a:rPr lang="en-IN" sz="900" dirty="0"/>
              <a:t>5</a:t>
            </a:r>
          </a:p>
          <a:p>
            <a:r>
              <a:rPr lang="en-IN" sz="900" dirty="0">
                <a:solidFill>
                  <a:srgbClr val="0070C0"/>
                </a:solidFill>
              </a:rPr>
              <a:t>AI prescription</a:t>
            </a:r>
          </a:p>
        </p:txBody>
      </p:sp>
      <p:sp>
        <p:nvSpPr>
          <p:cNvPr id="44" name="Rectangle: Rounded Corners 43">
            <a:extLst>
              <a:ext uri="{FF2B5EF4-FFF2-40B4-BE49-F238E27FC236}">
                <a16:creationId xmlns:a16="http://schemas.microsoft.com/office/drawing/2014/main" id="{C4783F79-6E40-228B-88AC-7E1E69F7C4BC}"/>
              </a:ext>
            </a:extLst>
          </p:cNvPr>
          <p:cNvSpPr/>
          <p:nvPr/>
        </p:nvSpPr>
        <p:spPr>
          <a:xfrm>
            <a:off x="6427957" y="1340230"/>
            <a:ext cx="1225559" cy="251039"/>
          </a:xfrm>
          <a:prstGeom prst="roundRect">
            <a:avLst/>
          </a:prstGeom>
          <a:solidFill>
            <a:srgbClr val="42431B"/>
          </a:solidFill>
          <a:ln>
            <a:solidFill>
              <a:srgbClr val="9A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2 high risk</a:t>
            </a:r>
            <a:endParaRPr lang="en-IN" dirty="0">
              <a:solidFill>
                <a:srgbClr val="FFFF00"/>
              </a:solidFill>
            </a:endParaRPr>
          </a:p>
        </p:txBody>
      </p:sp>
      <p:sp>
        <p:nvSpPr>
          <p:cNvPr id="45" name="Rectangle: Rounded Corners 44">
            <a:extLst>
              <a:ext uri="{FF2B5EF4-FFF2-40B4-BE49-F238E27FC236}">
                <a16:creationId xmlns:a16="http://schemas.microsoft.com/office/drawing/2014/main" id="{A236189C-C0E5-1ACC-A9BC-2B69D0417D30}"/>
              </a:ext>
            </a:extLst>
          </p:cNvPr>
          <p:cNvSpPr/>
          <p:nvPr/>
        </p:nvSpPr>
        <p:spPr>
          <a:xfrm>
            <a:off x="7705241" y="1340230"/>
            <a:ext cx="1225559" cy="251039"/>
          </a:xfrm>
          <a:prstGeom prst="roundRect">
            <a:avLst/>
          </a:prstGeom>
          <a:solidFill>
            <a:srgbClr val="1B4322"/>
          </a:solidFill>
          <a:ln>
            <a:solidFill>
              <a:srgbClr val="9A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System live</a:t>
            </a:r>
            <a:endParaRPr lang="en-IN" dirty="0">
              <a:solidFill>
                <a:srgbClr val="00B050"/>
              </a:solidFill>
            </a:endParaRPr>
          </a:p>
        </p:txBody>
      </p:sp>
      <p:sp>
        <p:nvSpPr>
          <p:cNvPr id="46" name="Rectangle: Rounded Corners 45">
            <a:extLst>
              <a:ext uri="{FF2B5EF4-FFF2-40B4-BE49-F238E27FC236}">
                <a16:creationId xmlns:a16="http://schemas.microsoft.com/office/drawing/2014/main" id="{7AF305D9-D701-351A-347B-D5808AC96F63}"/>
              </a:ext>
            </a:extLst>
          </p:cNvPr>
          <p:cNvSpPr/>
          <p:nvPr/>
        </p:nvSpPr>
        <p:spPr>
          <a:xfrm>
            <a:off x="5098948" y="1340230"/>
            <a:ext cx="1225559" cy="251039"/>
          </a:xfrm>
          <a:prstGeom prst="roundRect">
            <a:avLst/>
          </a:prstGeom>
          <a:solidFill>
            <a:srgbClr val="431B1C"/>
          </a:solidFill>
          <a:ln>
            <a:solidFill>
              <a:srgbClr val="9A9F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 critical</a:t>
            </a:r>
            <a:endParaRPr lang="en-IN" dirty="0">
              <a:solidFill>
                <a:srgbClr val="FF0000"/>
              </a:solidFill>
            </a:endParaRPr>
          </a:p>
        </p:txBody>
      </p:sp>
      <p:sp>
        <p:nvSpPr>
          <p:cNvPr id="47" name="Rectangle 46">
            <a:extLst>
              <a:ext uri="{FF2B5EF4-FFF2-40B4-BE49-F238E27FC236}">
                <a16:creationId xmlns:a16="http://schemas.microsoft.com/office/drawing/2014/main" id="{28D97CCA-948B-98A6-618F-AC6333E0593D}"/>
              </a:ext>
            </a:extLst>
          </p:cNvPr>
          <p:cNvSpPr/>
          <p:nvPr/>
        </p:nvSpPr>
        <p:spPr>
          <a:xfrm>
            <a:off x="2755900" y="3754418"/>
            <a:ext cx="977895" cy="620541"/>
          </a:xfrm>
          <a:prstGeom prst="rect">
            <a:avLst/>
          </a:prstGeom>
          <a:solidFill>
            <a:srgbClr val="431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Zone A</a:t>
            </a:r>
          </a:p>
          <a:p>
            <a:pPr algn="ctr"/>
            <a:r>
              <a:rPr lang="en-US" dirty="0"/>
              <a:t>8.7</a:t>
            </a:r>
            <a:endParaRPr lang="en-IN" dirty="0"/>
          </a:p>
        </p:txBody>
      </p:sp>
      <p:sp>
        <p:nvSpPr>
          <p:cNvPr id="48" name="Rectangle 47">
            <a:extLst>
              <a:ext uri="{FF2B5EF4-FFF2-40B4-BE49-F238E27FC236}">
                <a16:creationId xmlns:a16="http://schemas.microsoft.com/office/drawing/2014/main" id="{1187D78E-871A-B90A-BCAC-05D0197D9187}"/>
              </a:ext>
            </a:extLst>
          </p:cNvPr>
          <p:cNvSpPr/>
          <p:nvPr/>
        </p:nvSpPr>
        <p:spPr>
          <a:xfrm>
            <a:off x="3632203" y="4011061"/>
            <a:ext cx="977895" cy="620541"/>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Zone B</a:t>
            </a:r>
          </a:p>
          <a:p>
            <a:pPr algn="ctr"/>
            <a:r>
              <a:rPr lang="en-US" dirty="0"/>
              <a:t>3.1</a:t>
            </a:r>
          </a:p>
        </p:txBody>
      </p:sp>
      <p:sp>
        <p:nvSpPr>
          <p:cNvPr id="49" name="Rectangle 48">
            <a:extLst>
              <a:ext uri="{FF2B5EF4-FFF2-40B4-BE49-F238E27FC236}">
                <a16:creationId xmlns:a16="http://schemas.microsoft.com/office/drawing/2014/main" id="{E24C1213-7DBD-F53D-19CE-10B3209452A1}"/>
              </a:ext>
            </a:extLst>
          </p:cNvPr>
          <p:cNvSpPr/>
          <p:nvPr/>
        </p:nvSpPr>
        <p:spPr>
          <a:xfrm>
            <a:off x="4514853" y="3689014"/>
            <a:ext cx="977895" cy="620541"/>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Zone C</a:t>
            </a:r>
          </a:p>
          <a:p>
            <a:pPr algn="ctr"/>
            <a:r>
              <a:rPr lang="en-US" dirty="0"/>
              <a:t>2.2</a:t>
            </a:r>
            <a:endParaRPr lang="en-IN" dirty="0"/>
          </a:p>
        </p:txBody>
      </p:sp>
      <p:sp>
        <p:nvSpPr>
          <p:cNvPr id="50" name="Rectangle 49">
            <a:extLst>
              <a:ext uri="{FF2B5EF4-FFF2-40B4-BE49-F238E27FC236}">
                <a16:creationId xmlns:a16="http://schemas.microsoft.com/office/drawing/2014/main" id="{4EFE5130-ACB3-8FE0-8673-8CBC11713C15}"/>
              </a:ext>
            </a:extLst>
          </p:cNvPr>
          <p:cNvSpPr/>
          <p:nvPr/>
        </p:nvSpPr>
        <p:spPr>
          <a:xfrm>
            <a:off x="5549902" y="4306832"/>
            <a:ext cx="977895" cy="620541"/>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Zone D</a:t>
            </a:r>
          </a:p>
          <a:p>
            <a:pPr algn="ctr"/>
            <a:r>
              <a:rPr lang="en-US" dirty="0"/>
              <a:t>1.1</a:t>
            </a:r>
            <a:endParaRPr lang="en-IN" dirty="0"/>
          </a:p>
        </p:txBody>
      </p:sp>
      <p:sp>
        <p:nvSpPr>
          <p:cNvPr id="52" name="Rectangle: Rounded Corners 51">
            <a:extLst>
              <a:ext uri="{FF2B5EF4-FFF2-40B4-BE49-F238E27FC236}">
                <a16:creationId xmlns:a16="http://schemas.microsoft.com/office/drawing/2014/main" id="{C7DC6491-F07E-F80B-FB8B-AE7B226842B8}"/>
              </a:ext>
            </a:extLst>
          </p:cNvPr>
          <p:cNvSpPr/>
          <p:nvPr/>
        </p:nvSpPr>
        <p:spPr>
          <a:xfrm>
            <a:off x="2095500" y="3954589"/>
            <a:ext cx="1136631" cy="976331"/>
          </a:xfrm>
          <a:prstGeom prst="roundRect">
            <a:avLst/>
          </a:prstGeom>
          <a:solidFill>
            <a:srgbClr val="3030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D03DA058-98B7-AA2E-FE22-9F6958726D6B}"/>
              </a:ext>
            </a:extLst>
          </p:cNvPr>
          <p:cNvSpPr txBox="1"/>
          <p:nvPr/>
        </p:nvSpPr>
        <p:spPr>
          <a:xfrm>
            <a:off x="2336790" y="3984218"/>
            <a:ext cx="863603" cy="954107"/>
          </a:xfrm>
          <a:prstGeom prst="rect">
            <a:avLst/>
          </a:prstGeom>
          <a:noFill/>
        </p:spPr>
        <p:txBody>
          <a:bodyPr wrap="square" rtlCol="0">
            <a:spAutoFit/>
          </a:bodyPr>
          <a:lstStyle/>
          <a:p>
            <a:r>
              <a:rPr lang="en-US" dirty="0">
                <a:solidFill>
                  <a:schemeClr val="bg1"/>
                </a:solidFill>
              </a:rPr>
              <a:t>Critical</a:t>
            </a:r>
          </a:p>
          <a:p>
            <a:r>
              <a:rPr lang="en-US" dirty="0">
                <a:solidFill>
                  <a:schemeClr val="bg1"/>
                </a:solidFill>
              </a:rPr>
              <a:t>High</a:t>
            </a:r>
          </a:p>
          <a:p>
            <a:r>
              <a:rPr lang="en-US" dirty="0">
                <a:solidFill>
                  <a:schemeClr val="bg1"/>
                </a:solidFill>
              </a:rPr>
              <a:t>Medium</a:t>
            </a:r>
          </a:p>
          <a:p>
            <a:r>
              <a:rPr lang="en-US" dirty="0">
                <a:solidFill>
                  <a:schemeClr val="bg1"/>
                </a:solidFill>
              </a:rPr>
              <a:t>Stable</a:t>
            </a:r>
            <a:endParaRPr lang="en-IN" dirty="0">
              <a:solidFill>
                <a:schemeClr val="bg1"/>
              </a:solidFill>
            </a:endParaRPr>
          </a:p>
        </p:txBody>
      </p:sp>
      <p:sp>
        <p:nvSpPr>
          <p:cNvPr id="56" name="Flowchart: Process 55">
            <a:extLst>
              <a:ext uri="{FF2B5EF4-FFF2-40B4-BE49-F238E27FC236}">
                <a16:creationId xmlns:a16="http://schemas.microsoft.com/office/drawing/2014/main" id="{812B4349-07CD-97BA-B2C7-EDE2D872263B}"/>
              </a:ext>
            </a:extLst>
          </p:cNvPr>
          <p:cNvSpPr/>
          <p:nvPr/>
        </p:nvSpPr>
        <p:spPr>
          <a:xfrm>
            <a:off x="2146291" y="4064688"/>
            <a:ext cx="222258" cy="163488"/>
          </a:xfrm>
          <a:prstGeom prst="flowChartProces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Flowchart: Process 56">
            <a:extLst>
              <a:ext uri="{FF2B5EF4-FFF2-40B4-BE49-F238E27FC236}">
                <a16:creationId xmlns:a16="http://schemas.microsoft.com/office/drawing/2014/main" id="{AA50FD97-9C84-4E47-0455-615FA952B63A}"/>
              </a:ext>
            </a:extLst>
          </p:cNvPr>
          <p:cNvSpPr/>
          <p:nvPr/>
        </p:nvSpPr>
        <p:spPr>
          <a:xfrm>
            <a:off x="2152642" y="4291980"/>
            <a:ext cx="222258" cy="163488"/>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lowchart: Process 57">
            <a:extLst>
              <a:ext uri="{FF2B5EF4-FFF2-40B4-BE49-F238E27FC236}">
                <a16:creationId xmlns:a16="http://schemas.microsoft.com/office/drawing/2014/main" id="{78BCC874-AB3D-928B-0573-C484AE40BBA3}"/>
              </a:ext>
            </a:extLst>
          </p:cNvPr>
          <p:cNvSpPr/>
          <p:nvPr/>
        </p:nvSpPr>
        <p:spPr>
          <a:xfrm>
            <a:off x="2152642" y="4497804"/>
            <a:ext cx="222258" cy="163488"/>
          </a:xfrm>
          <a:prstGeom prst="flowChartProces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Flowchart: Process 58">
            <a:extLst>
              <a:ext uri="{FF2B5EF4-FFF2-40B4-BE49-F238E27FC236}">
                <a16:creationId xmlns:a16="http://schemas.microsoft.com/office/drawing/2014/main" id="{E64EA81B-679F-DB20-FD82-972CDB23A9D8}"/>
              </a:ext>
            </a:extLst>
          </p:cNvPr>
          <p:cNvSpPr/>
          <p:nvPr/>
        </p:nvSpPr>
        <p:spPr>
          <a:xfrm>
            <a:off x="2165343" y="4715894"/>
            <a:ext cx="222258" cy="163488"/>
          </a:xfrm>
          <a:prstGeom prst="flowChartProcess">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1" name="Straight Connector 60">
            <a:extLst>
              <a:ext uri="{FF2B5EF4-FFF2-40B4-BE49-F238E27FC236}">
                <a16:creationId xmlns:a16="http://schemas.microsoft.com/office/drawing/2014/main" id="{2E52E097-C6AF-A04F-2B41-404B1482AB4C}"/>
              </a:ext>
            </a:extLst>
          </p:cNvPr>
          <p:cNvCxnSpPr/>
          <p:nvPr/>
        </p:nvCxnSpPr>
        <p:spPr>
          <a:xfrm>
            <a:off x="6635750" y="2060249"/>
            <a:ext cx="2398500" cy="0"/>
          </a:xfrm>
          <a:prstGeom prst="line">
            <a:avLst/>
          </a:prstGeom>
          <a:ln>
            <a:solidFill>
              <a:srgbClr val="9A9F9F"/>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BA8DC3D-A8C5-EF1F-5102-EE7B3AD36EE2}"/>
              </a:ext>
            </a:extLst>
          </p:cNvPr>
          <p:cNvSpPr txBox="1"/>
          <p:nvPr/>
        </p:nvSpPr>
        <p:spPr>
          <a:xfrm>
            <a:off x="6731000" y="1733550"/>
            <a:ext cx="2044683" cy="307777"/>
          </a:xfrm>
          <a:prstGeom prst="rect">
            <a:avLst/>
          </a:prstGeom>
          <a:noFill/>
        </p:spPr>
        <p:txBody>
          <a:bodyPr wrap="square" rtlCol="0">
            <a:spAutoFit/>
          </a:bodyPr>
          <a:lstStyle/>
          <a:p>
            <a:r>
              <a:rPr lang="en-US" dirty="0">
                <a:solidFill>
                  <a:schemeClr val="bg1"/>
                </a:solidFill>
              </a:rPr>
              <a:t>Misallocation alerts</a:t>
            </a:r>
            <a:endParaRPr lang="en-IN" dirty="0">
              <a:solidFill>
                <a:schemeClr val="bg1"/>
              </a:solidFill>
            </a:endParaRPr>
          </a:p>
        </p:txBody>
      </p:sp>
      <p:sp>
        <p:nvSpPr>
          <p:cNvPr id="63" name="Rectangle: Rounded Corners 62">
            <a:extLst>
              <a:ext uri="{FF2B5EF4-FFF2-40B4-BE49-F238E27FC236}">
                <a16:creationId xmlns:a16="http://schemas.microsoft.com/office/drawing/2014/main" id="{11E1EFD1-B96D-FC11-F88B-2FD5F21A8B39}"/>
              </a:ext>
            </a:extLst>
          </p:cNvPr>
          <p:cNvSpPr/>
          <p:nvPr/>
        </p:nvSpPr>
        <p:spPr>
          <a:xfrm>
            <a:off x="6731000" y="2171699"/>
            <a:ext cx="2184384" cy="1517313"/>
          </a:xfrm>
          <a:prstGeom prst="roundRect">
            <a:avLst/>
          </a:prstGeom>
          <a:solidFill>
            <a:srgbClr val="FCEBEB"/>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Zone A-understaffed</a:t>
            </a:r>
          </a:p>
          <a:p>
            <a:pPr algn="ctr"/>
            <a:r>
              <a:rPr lang="en-US" dirty="0">
                <a:solidFill>
                  <a:schemeClr val="tx1"/>
                </a:solidFill>
              </a:rPr>
              <a:t>Score </a:t>
            </a:r>
            <a:r>
              <a:rPr lang="en-US" dirty="0">
                <a:solidFill>
                  <a:srgbClr val="FF0000"/>
                </a:solidFill>
              </a:rPr>
              <a:t>8.7</a:t>
            </a:r>
            <a:r>
              <a:rPr lang="en-US" dirty="0">
                <a:solidFill>
                  <a:schemeClr val="tx1"/>
                </a:solidFill>
              </a:rPr>
              <a:t>. 2 Deployed,8 Needed</a:t>
            </a:r>
          </a:p>
          <a:p>
            <a:pPr algn="ctr"/>
            <a:endParaRPr lang="en-US" dirty="0">
              <a:solidFill>
                <a:schemeClr val="tx1"/>
              </a:solidFill>
            </a:endParaRPr>
          </a:p>
          <a:p>
            <a:pPr algn="ctr"/>
            <a:endParaRPr lang="en-IN" dirty="0">
              <a:solidFill>
                <a:schemeClr val="tx1"/>
              </a:solidFill>
            </a:endParaRPr>
          </a:p>
        </p:txBody>
      </p:sp>
      <p:cxnSp>
        <p:nvCxnSpPr>
          <p:cNvPr id="5" name="Straight Connector 4">
            <a:extLst>
              <a:ext uri="{FF2B5EF4-FFF2-40B4-BE49-F238E27FC236}">
                <a16:creationId xmlns:a16="http://schemas.microsoft.com/office/drawing/2014/main" id="{B11CB1A7-935A-0837-7B61-F92DBFBBFDEC}"/>
              </a:ext>
            </a:extLst>
          </p:cNvPr>
          <p:cNvCxnSpPr/>
          <p:nvPr/>
        </p:nvCxnSpPr>
        <p:spPr>
          <a:xfrm flipV="1">
            <a:off x="6642100" y="3928177"/>
            <a:ext cx="2392150" cy="14839"/>
          </a:xfrm>
          <a:prstGeom prst="line">
            <a:avLst/>
          </a:prstGeom>
          <a:ln>
            <a:solidFill>
              <a:srgbClr val="9A9F9F"/>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0CDE8F2-8960-F106-C725-7A8028F5D9C8}"/>
              </a:ext>
            </a:extLst>
          </p:cNvPr>
          <p:cNvSpPr/>
          <p:nvPr/>
        </p:nvSpPr>
        <p:spPr>
          <a:xfrm>
            <a:off x="7050775" y="3130550"/>
            <a:ext cx="1568450" cy="379389"/>
          </a:xfrm>
          <a:prstGeom prst="rect">
            <a:avLst/>
          </a:prstGeom>
          <a:solidFill>
            <a:srgbClr val="3030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View Prescription</a:t>
            </a:r>
            <a:endParaRPr lang="en-IN" dirty="0"/>
          </a:p>
        </p:txBody>
      </p:sp>
      <p:cxnSp>
        <p:nvCxnSpPr>
          <p:cNvPr id="7" name="Straight Connector 6">
            <a:extLst>
              <a:ext uri="{FF2B5EF4-FFF2-40B4-BE49-F238E27FC236}">
                <a16:creationId xmlns:a16="http://schemas.microsoft.com/office/drawing/2014/main" id="{801889EB-96E2-124D-943E-7B26B997BE9C}"/>
              </a:ext>
            </a:extLst>
          </p:cNvPr>
          <p:cNvCxnSpPr/>
          <p:nvPr/>
        </p:nvCxnSpPr>
        <p:spPr>
          <a:xfrm flipV="1">
            <a:off x="6627117" y="4158699"/>
            <a:ext cx="2392150" cy="14839"/>
          </a:xfrm>
          <a:prstGeom prst="line">
            <a:avLst/>
          </a:prstGeom>
          <a:ln>
            <a:solidFill>
              <a:srgbClr val="9A9F9F"/>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6521615-0B98-E91C-D3A6-1CE9D9969898}"/>
              </a:ext>
            </a:extLst>
          </p:cNvPr>
          <p:cNvSpPr txBox="1"/>
          <p:nvPr/>
        </p:nvSpPr>
        <p:spPr>
          <a:xfrm>
            <a:off x="6620780" y="3919534"/>
            <a:ext cx="1981200" cy="1046440"/>
          </a:xfrm>
          <a:prstGeom prst="rect">
            <a:avLst/>
          </a:prstGeom>
          <a:noFill/>
        </p:spPr>
        <p:txBody>
          <a:bodyPr wrap="square" rtlCol="0">
            <a:spAutoFit/>
          </a:bodyPr>
          <a:lstStyle/>
          <a:p>
            <a:r>
              <a:rPr lang="en-US" dirty="0">
                <a:solidFill>
                  <a:schemeClr val="bg1"/>
                </a:solidFill>
              </a:rPr>
              <a:t>Gemini Prescription</a:t>
            </a:r>
            <a:endParaRPr lang="en-IN" dirty="0">
              <a:solidFill>
                <a:schemeClr val="bg1"/>
              </a:solidFill>
            </a:endParaRPr>
          </a:p>
          <a:p>
            <a:r>
              <a:rPr lang="en-IN" sz="1200" dirty="0">
                <a:solidFill>
                  <a:schemeClr val="bg1"/>
                </a:solidFill>
              </a:rPr>
              <a:t>Move all the available Staff to Zone A. As right now no other zone is in danger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2"/>
          <p:cNvSpPr txBox="1"/>
          <p:nvPr/>
        </p:nvSpPr>
        <p:spPr>
          <a:xfrm>
            <a:off x="171050" y="867425"/>
            <a:ext cx="88209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Architecture diagram of the proposed solution</a:t>
            </a:r>
            <a:endParaRPr sz="1800" b="0" i="0" u="none" strike="noStrike" cap="none" dirty="0">
              <a:solidFill>
                <a:srgbClr val="000000"/>
              </a:solidFill>
              <a:latin typeface="Google Sans"/>
              <a:ea typeface="Google Sans"/>
              <a:cs typeface="Google Sans"/>
              <a:sym typeface="Google Sans"/>
            </a:endParaRPr>
          </a:p>
        </p:txBody>
      </p:sp>
      <p:pic>
        <p:nvPicPr>
          <p:cNvPr id="146" name="Google Shape;146;p32"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2" name="Rectangle: Rounded Corners 1">
            <a:extLst>
              <a:ext uri="{FF2B5EF4-FFF2-40B4-BE49-F238E27FC236}">
                <a16:creationId xmlns:a16="http://schemas.microsoft.com/office/drawing/2014/main" id="{6A503506-A5D2-2949-F28D-17DBDCC1EF00}"/>
              </a:ext>
            </a:extLst>
          </p:cNvPr>
          <p:cNvSpPr/>
          <p:nvPr/>
        </p:nvSpPr>
        <p:spPr>
          <a:xfrm>
            <a:off x="3200400" y="1286837"/>
            <a:ext cx="2743200"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React Frontend</a:t>
            </a:r>
            <a:endParaRPr lang="en-IN" dirty="0"/>
          </a:p>
          <a:p>
            <a:pPr algn="ctr"/>
            <a:r>
              <a:rPr lang="en-IN" sz="1200" dirty="0"/>
              <a:t>Heatmap · Dashboard · Upload UI</a:t>
            </a:r>
            <a:endParaRPr lang="en-US" sz="1200" dirty="0"/>
          </a:p>
        </p:txBody>
      </p:sp>
      <p:sp>
        <p:nvSpPr>
          <p:cNvPr id="3" name="Rectangle: Rounded Corners 2">
            <a:extLst>
              <a:ext uri="{FF2B5EF4-FFF2-40B4-BE49-F238E27FC236}">
                <a16:creationId xmlns:a16="http://schemas.microsoft.com/office/drawing/2014/main" id="{D299A526-EE5D-2E0D-6DB1-7D6FF8B0AF4A}"/>
              </a:ext>
            </a:extLst>
          </p:cNvPr>
          <p:cNvSpPr/>
          <p:nvPr/>
        </p:nvSpPr>
        <p:spPr>
          <a:xfrm>
            <a:off x="660146" y="2179574"/>
            <a:ext cx="8083550" cy="2029585"/>
          </a:xfrm>
          <a:prstGeom prst="roundRect">
            <a:avLst/>
          </a:prstGeom>
          <a:solidFill>
            <a:schemeClr val="accent1">
              <a:lumMod val="75000"/>
            </a:schemeClr>
          </a:solidFill>
          <a:ln>
            <a:solidFill>
              <a:srgbClr val="00B0F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4556B8F1-455E-F4DB-E27E-F82240009247}"/>
              </a:ext>
            </a:extLst>
          </p:cNvPr>
          <p:cNvSpPr/>
          <p:nvPr/>
        </p:nvSpPr>
        <p:spPr>
          <a:xfrm>
            <a:off x="1049782" y="2330694"/>
            <a:ext cx="2089150" cy="806450"/>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Node.js backend</a:t>
            </a:r>
          </a:p>
          <a:p>
            <a:pPr algn="ctr"/>
            <a:r>
              <a:rPr lang="en-US" sz="1200" dirty="0"/>
              <a:t>API </a:t>
            </a:r>
            <a:r>
              <a:rPr lang="en-IN" sz="1200" dirty="0"/>
              <a:t>· routing · scoring</a:t>
            </a:r>
          </a:p>
        </p:txBody>
      </p:sp>
      <p:cxnSp>
        <p:nvCxnSpPr>
          <p:cNvPr id="6" name="Straight Arrow Connector 5">
            <a:extLst>
              <a:ext uri="{FF2B5EF4-FFF2-40B4-BE49-F238E27FC236}">
                <a16:creationId xmlns:a16="http://schemas.microsoft.com/office/drawing/2014/main" id="{D34C5ED6-7A2A-7945-4626-666D5DA2989A}"/>
              </a:ext>
            </a:extLst>
          </p:cNvPr>
          <p:cNvCxnSpPr>
            <a:cxnSpLocks/>
            <a:stCxn id="4" idx="3"/>
          </p:cNvCxnSpPr>
          <p:nvPr/>
        </p:nvCxnSpPr>
        <p:spPr>
          <a:xfrm>
            <a:off x="3138932" y="2733919"/>
            <a:ext cx="445516"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15F7A874-3982-8612-8F56-D548A87F0FEA}"/>
              </a:ext>
            </a:extLst>
          </p:cNvPr>
          <p:cNvSpPr/>
          <p:nvPr/>
        </p:nvSpPr>
        <p:spPr>
          <a:xfrm>
            <a:off x="3584448" y="2330694"/>
            <a:ext cx="2089150" cy="806450"/>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Gemini API </a:t>
            </a:r>
          </a:p>
          <a:p>
            <a:pPr algn="ctr"/>
            <a:r>
              <a:rPr lang="en-US" sz="1200" dirty="0"/>
              <a:t>Parse </a:t>
            </a:r>
            <a:r>
              <a:rPr lang="en-IN" sz="1200" dirty="0"/>
              <a:t>· score · prescribe</a:t>
            </a:r>
          </a:p>
        </p:txBody>
      </p:sp>
      <p:cxnSp>
        <p:nvCxnSpPr>
          <p:cNvPr id="9" name="Straight Arrow Connector 8">
            <a:extLst>
              <a:ext uri="{FF2B5EF4-FFF2-40B4-BE49-F238E27FC236}">
                <a16:creationId xmlns:a16="http://schemas.microsoft.com/office/drawing/2014/main" id="{EA5980AF-8779-8F1E-7E3D-514CA4E8CE0E}"/>
              </a:ext>
            </a:extLst>
          </p:cNvPr>
          <p:cNvCxnSpPr>
            <a:stCxn id="7" idx="3"/>
          </p:cNvCxnSpPr>
          <p:nvPr/>
        </p:nvCxnSpPr>
        <p:spPr>
          <a:xfrm>
            <a:off x="5673598" y="2733919"/>
            <a:ext cx="708914"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2A1212EC-9148-8239-4C84-C229D14B6DA7}"/>
              </a:ext>
            </a:extLst>
          </p:cNvPr>
          <p:cNvSpPr/>
          <p:nvPr/>
        </p:nvSpPr>
        <p:spPr>
          <a:xfrm>
            <a:off x="6382512" y="2330694"/>
            <a:ext cx="2089150" cy="806450"/>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Vertex AI</a:t>
            </a:r>
          </a:p>
          <a:p>
            <a:pPr algn="ctr"/>
            <a:r>
              <a:rPr lang="en-US" sz="1200" dirty="0"/>
              <a:t>Historical </a:t>
            </a:r>
            <a:r>
              <a:rPr lang="en-IN" sz="1200" dirty="0"/>
              <a:t>· Predictive Model</a:t>
            </a:r>
          </a:p>
        </p:txBody>
      </p:sp>
      <p:cxnSp>
        <p:nvCxnSpPr>
          <p:cNvPr id="13" name="Straight Arrow Connector 12">
            <a:extLst>
              <a:ext uri="{FF2B5EF4-FFF2-40B4-BE49-F238E27FC236}">
                <a16:creationId xmlns:a16="http://schemas.microsoft.com/office/drawing/2014/main" id="{4E899748-2027-3C4E-66F2-00FEDC548B7E}"/>
              </a:ext>
            </a:extLst>
          </p:cNvPr>
          <p:cNvCxnSpPr>
            <a:cxnSpLocks/>
          </p:cNvCxnSpPr>
          <p:nvPr/>
        </p:nvCxnSpPr>
        <p:spPr>
          <a:xfrm>
            <a:off x="2889504" y="3137144"/>
            <a:ext cx="0" cy="25722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9063A53-2826-6F2C-11D6-EC3DA569F4A9}"/>
              </a:ext>
            </a:extLst>
          </p:cNvPr>
          <p:cNvCxnSpPr>
            <a:cxnSpLocks/>
          </p:cNvCxnSpPr>
          <p:nvPr/>
        </p:nvCxnSpPr>
        <p:spPr>
          <a:xfrm>
            <a:off x="4925568" y="3137144"/>
            <a:ext cx="0" cy="25722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26EC084-9AC8-E1E8-60C7-E1B3FDCE1771}"/>
              </a:ext>
            </a:extLst>
          </p:cNvPr>
          <p:cNvCxnSpPr/>
          <p:nvPr/>
        </p:nvCxnSpPr>
        <p:spPr>
          <a:xfrm>
            <a:off x="7168896" y="3137144"/>
            <a:ext cx="0" cy="20841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B98B5320-2FC5-4C67-C191-AD60297ADA5E}"/>
              </a:ext>
            </a:extLst>
          </p:cNvPr>
          <p:cNvSpPr/>
          <p:nvPr/>
        </p:nvSpPr>
        <p:spPr>
          <a:xfrm>
            <a:off x="1379475" y="3394364"/>
            <a:ext cx="2089150" cy="7143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Google Maps Platform</a:t>
            </a:r>
          </a:p>
          <a:p>
            <a:pPr algn="ctr"/>
            <a:r>
              <a:rPr lang="en-US" sz="1200" dirty="0"/>
              <a:t>Heatmap </a:t>
            </a:r>
            <a:r>
              <a:rPr lang="en-IN" sz="1200" dirty="0"/>
              <a:t>· zone rendering</a:t>
            </a:r>
          </a:p>
        </p:txBody>
      </p:sp>
      <p:sp>
        <p:nvSpPr>
          <p:cNvPr id="24" name="Rectangle: Rounded Corners 23">
            <a:extLst>
              <a:ext uri="{FF2B5EF4-FFF2-40B4-BE49-F238E27FC236}">
                <a16:creationId xmlns:a16="http://schemas.microsoft.com/office/drawing/2014/main" id="{C4AC3577-A149-6DD9-AF42-3082571FBC86}"/>
              </a:ext>
            </a:extLst>
          </p:cNvPr>
          <p:cNvSpPr/>
          <p:nvPr/>
        </p:nvSpPr>
        <p:spPr>
          <a:xfrm>
            <a:off x="3726815" y="3394364"/>
            <a:ext cx="2089150" cy="7143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Google Auth</a:t>
            </a:r>
          </a:p>
          <a:p>
            <a:pPr algn="ctr"/>
            <a:r>
              <a:rPr lang="en-US" sz="1200" dirty="0" err="1"/>
              <a:t>Cordinator</a:t>
            </a:r>
            <a:r>
              <a:rPr lang="en-US" sz="1200" dirty="0"/>
              <a:t> Login</a:t>
            </a:r>
            <a:endParaRPr lang="en-IN" sz="1200" dirty="0"/>
          </a:p>
        </p:txBody>
      </p:sp>
      <p:sp>
        <p:nvSpPr>
          <p:cNvPr id="26" name="Rectangle: Rounded Corners 25">
            <a:extLst>
              <a:ext uri="{FF2B5EF4-FFF2-40B4-BE49-F238E27FC236}">
                <a16:creationId xmlns:a16="http://schemas.microsoft.com/office/drawing/2014/main" id="{CB29F6F7-4662-89CD-6395-FB78079CD346}"/>
              </a:ext>
            </a:extLst>
          </p:cNvPr>
          <p:cNvSpPr/>
          <p:nvPr/>
        </p:nvSpPr>
        <p:spPr>
          <a:xfrm>
            <a:off x="6338443" y="3420189"/>
            <a:ext cx="2089150" cy="7143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Google Maps Platform</a:t>
            </a:r>
          </a:p>
          <a:p>
            <a:pPr algn="ctr"/>
            <a:r>
              <a:rPr lang="en-US" sz="1200" dirty="0"/>
              <a:t>Heatmap </a:t>
            </a:r>
            <a:r>
              <a:rPr lang="en-IN" sz="1200" dirty="0"/>
              <a:t>· zone rendering</a:t>
            </a:r>
          </a:p>
        </p:txBody>
      </p:sp>
      <p:cxnSp>
        <p:nvCxnSpPr>
          <p:cNvPr id="31" name="Straight Connector 30">
            <a:extLst>
              <a:ext uri="{FF2B5EF4-FFF2-40B4-BE49-F238E27FC236}">
                <a16:creationId xmlns:a16="http://schemas.microsoft.com/office/drawing/2014/main" id="{881D9357-BB7A-731D-EEE5-ABBCA2A850EB}"/>
              </a:ext>
            </a:extLst>
          </p:cNvPr>
          <p:cNvCxnSpPr/>
          <p:nvPr/>
        </p:nvCxnSpPr>
        <p:spPr>
          <a:xfrm>
            <a:off x="7168896" y="3345556"/>
            <a:ext cx="1255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392ADC1-44B9-97D3-89A2-F792FCF6D9C4}"/>
              </a:ext>
            </a:extLst>
          </p:cNvPr>
          <p:cNvCxnSpPr/>
          <p:nvPr/>
        </p:nvCxnSpPr>
        <p:spPr>
          <a:xfrm>
            <a:off x="7301345" y="3345556"/>
            <a:ext cx="0" cy="48808"/>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7A9BC47-7696-CE0F-AE04-C288CDC41F3A}"/>
              </a:ext>
            </a:extLst>
          </p:cNvPr>
          <p:cNvCxnSpPr>
            <a:cxnSpLocks/>
          </p:cNvCxnSpPr>
          <p:nvPr/>
        </p:nvCxnSpPr>
        <p:spPr>
          <a:xfrm>
            <a:off x="2777836" y="4218709"/>
            <a:ext cx="0" cy="193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5701949-CC19-61E3-73E6-2F19D53C613B}"/>
              </a:ext>
            </a:extLst>
          </p:cNvPr>
          <p:cNvCxnSpPr>
            <a:cxnSpLocks/>
          </p:cNvCxnSpPr>
          <p:nvPr/>
        </p:nvCxnSpPr>
        <p:spPr>
          <a:xfrm>
            <a:off x="6546273" y="4209159"/>
            <a:ext cx="0" cy="213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9A87AC01-3C4C-8F71-3665-2216859D7B41}"/>
              </a:ext>
            </a:extLst>
          </p:cNvPr>
          <p:cNvSpPr/>
          <p:nvPr/>
        </p:nvSpPr>
        <p:spPr>
          <a:xfrm>
            <a:off x="1880755" y="4422223"/>
            <a:ext cx="1794161" cy="72127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Firestore</a:t>
            </a:r>
            <a:endParaRPr lang="en-US" dirty="0"/>
          </a:p>
          <a:p>
            <a:pPr algn="ctr"/>
            <a:r>
              <a:rPr lang="en-US" sz="1200" dirty="0"/>
              <a:t>Zones </a:t>
            </a:r>
            <a:r>
              <a:rPr lang="en-IN" sz="1200" dirty="0"/>
              <a:t>·</a:t>
            </a:r>
            <a:r>
              <a:rPr lang="en-US" sz="1200" dirty="0"/>
              <a:t> Allocation </a:t>
            </a:r>
            <a:r>
              <a:rPr lang="en-IN" sz="1200" dirty="0"/>
              <a:t>·</a:t>
            </a:r>
            <a:r>
              <a:rPr lang="en-US" sz="1200" dirty="0"/>
              <a:t> audit log</a:t>
            </a:r>
            <a:endParaRPr lang="en-IN" sz="1200" dirty="0"/>
          </a:p>
        </p:txBody>
      </p:sp>
      <p:sp>
        <p:nvSpPr>
          <p:cNvPr id="41" name="Rectangle: Rounded Corners 40">
            <a:extLst>
              <a:ext uri="{FF2B5EF4-FFF2-40B4-BE49-F238E27FC236}">
                <a16:creationId xmlns:a16="http://schemas.microsoft.com/office/drawing/2014/main" id="{99114C12-DFAC-D55F-78C0-F298558CEF91}"/>
              </a:ext>
            </a:extLst>
          </p:cNvPr>
          <p:cNvSpPr/>
          <p:nvPr/>
        </p:nvSpPr>
        <p:spPr>
          <a:xfrm>
            <a:off x="5374897" y="4448220"/>
            <a:ext cx="1794161" cy="72127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Cloud Storage</a:t>
            </a:r>
          </a:p>
          <a:p>
            <a:pPr algn="ctr"/>
            <a:r>
              <a:rPr lang="en-US" sz="1200" dirty="0"/>
              <a:t>Raw Uploads </a:t>
            </a:r>
            <a:r>
              <a:rPr lang="en-IN" sz="1200" dirty="0"/>
              <a:t>·</a:t>
            </a:r>
            <a:r>
              <a:rPr lang="en-US" sz="1200" dirty="0"/>
              <a:t> PDFs </a:t>
            </a:r>
            <a:r>
              <a:rPr lang="en-IN" sz="1200" dirty="0"/>
              <a:t>· </a:t>
            </a:r>
            <a:r>
              <a:rPr lang="en-US" sz="1200" dirty="0"/>
              <a:t>CSVs</a:t>
            </a:r>
            <a:endParaRPr lang="en-IN"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6" y="589347"/>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Technologies to be used in the solution</a:t>
            </a:r>
            <a:endParaRPr sz="1200" b="0" i="0" u="none" strike="noStrike" cap="none" dirty="0">
              <a:solidFill>
                <a:srgbClr val="000000"/>
              </a:solidFill>
              <a:latin typeface="Google Sans"/>
              <a:ea typeface="Google Sans"/>
              <a:cs typeface="Google Sans"/>
              <a:sym typeface="Google Sans"/>
            </a:endParaRP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graphicFrame>
        <p:nvGraphicFramePr>
          <p:cNvPr id="7" name="Table 6">
            <a:extLst>
              <a:ext uri="{FF2B5EF4-FFF2-40B4-BE49-F238E27FC236}">
                <a16:creationId xmlns:a16="http://schemas.microsoft.com/office/drawing/2014/main" id="{466E67B8-9D05-F6FE-88BE-A89BCDDDD697}"/>
              </a:ext>
            </a:extLst>
          </p:cNvPr>
          <p:cNvGraphicFramePr>
            <a:graphicFrameLocks noGrp="1"/>
          </p:cNvGraphicFramePr>
          <p:nvPr>
            <p:extLst>
              <p:ext uri="{D42A27DB-BD31-4B8C-83A1-F6EECF244321}">
                <p14:modId xmlns:p14="http://schemas.microsoft.com/office/powerpoint/2010/main" val="3217084749"/>
              </p:ext>
            </p:extLst>
          </p:nvPr>
        </p:nvGraphicFramePr>
        <p:xfrm>
          <a:off x="277075" y="1363360"/>
          <a:ext cx="5818926" cy="3620520"/>
        </p:xfrm>
        <a:graphic>
          <a:graphicData uri="http://schemas.openxmlformats.org/drawingml/2006/table">
            <a:tbl>
              <a:tblPr>
                <a:tableStyleId>{35758FB7-9AC5-4552-8A53-C91805E547FA}</a:tableStyleId>
              </a:tblPr>
              <a:tblGrid>
                <a:gridCol w="2909463">
                  <a:extLst>
                    <a:ext uri="{9D8B030D-6E8A-4147-A177-3AD203B41FA5}">
                      <a16:colId xmlns:a16="http://schemas.microsoft.com/office/drawing/2014/main" val="4104023544"/>
                    </a:ext>
                  </a:extLst>
                </a:gridCol>
                <a:gridCol w="2909463">
                  <a:extLst>
                    <a:ext uri="{9D8B030D-6E8A-4147-A177-3AD203B41FA5}">
                      <a16:colId xmlns:a16="http://schemas.microsoft.com/office/drawing/2014/main" val="3147815370"/>
                    </a:ext>
                  </a:extLst>
                </a:gridCol>
              </a:tblGrid>
              <a:tr h="266554">
                <a:tc>
                  <a:txBody>
                    <a:bodyPr/>
                    <a:lstStyle/>
                    <a:p>
                      <a:pPr>
                        <a:buNone/>
                      </a:pPr>
                      <a:r>
                        <a:rPr lang="en-IN"/>
                        <a:t>Technology</a:t>
                      </a:r>
                    </a:p>
                  </a:txBody>
                  <a:tcPr anchor="ctr"/>
                </a:tc>
                <a:tc>
                  <a:txBody>
                    <a:bodyPr/>
                    <a:lstStyle/>
                    <a:p>
                      <a:pPr>
                        <a:buNone/>
                      </a:pPr>
                      <a:r>
                        <a:rPr lang="en-IN"/>
                        <a:t>Purpose</a:t>
                      </a:r>
                    </a:p>
                  </a:txBody>
                  <a:tcPr anchor="ctr"/>
                </a:tc>
                <a:extLst>
                  <a:ext uri="{0D108BD9-81ED-4DB2-BD59-A6C34878D82A}">
                    <a16:rowId xmlns:a16="http://schemas.microsoft.com/office/drawing/2014/main" val="3078128163"/>
                  </a:ext>
                </a:extLst>
              </a:tr>
              <a:tr h="453141">
                <a:tc>
                  <a:txBody>
                    <a:bodyPr/>
                    <a:lstStyle/>
                    <a:p>
                      <a:pPr>
                        <a:buNone/>
                      </a:pPr>
                      <a:r>
                        <a:rPr lang="en-IN" b="1" dirty="0"/>
                        <a:t>Gemini API</a:t>
                      </a:r>
                      <a:endParaRPr lang="en-IN" dirty="0"/>
                    </a:p>
                  </a:txBody>
                  <a:tcPr anchor="ctr"/>
                </a:tc>
                <a:tc>
                  <a:txBody>
                    <a:bodyPr/>
                    <a:lstStyle/>
                    <a:p>
                      <a:pPr>
                        <a:buNone/>
                      </a:pPr>
                      <a:r>
                        <a:rPr lang="en-IN" dirty="0"/>
                        <a:t>Parse reports, score urgency, generate recommendations</a:t>
                      </a:r>
                    </a:p>
                  </a:txBody>
                  <a:tcPr anchor="ctr"/>
                </a:tc>
                <a:extLst>
                  <a:ext uri="{0D108BD9-81ED-4DB2-BD59-A6C34878D82A}">
                    <a16:rowId xmlns:a16="http://schemas.microsoft.com/office/drawing/2014/main" val="792271468"/>
                  </a:ext>
                </a:extLst>
              </a:tr>
              <a:tr h="377700">
                <a:tc>
                  <a:txBody>
                    <a:bodyPr/>
                    <a:lstStyle/>
                    <a:p>
                      <a:pPr>
                        <a:buNone/>
                      </a:pPr>
                      <a:r>
                        <a:rPr lang="en-IN" b="1" dirty="0"/>
                        <a:t>Vertex AI</a:t>
                      </a:r>
                      <a:endParaRPr lang="en-IN" dirty="0"/>
                    </a:p>
                  </a:txBody>
                  <a:tcPr anchor="ctr"/>
                </a:tc>
                <a:tc>
                  <a:txBody>
                    <a:bodyPr/>
                    <a:lstStyle/>
                    <a:p>
                      <a:pPr>
                        <a:buNone/>
                      </a:pPr>
                      <a:r>
                        <a:rPr lang="en-IN" dirty="0"/>
                        <a:t>Predictive analysis &amp; pattern learning</a:t>
                      </a:r>
                    </a:p>
                  </a:txBody>
                  <a:tcPr anchor="ctr"/>
                </a:tc>
                <a:extLst>
                  <a:ext uri="{0D108BD9-81ED-4DB2-BD59-A6C34878D82A}">
                    <a16:rowId xmlns:a16="http://schemas.microsoft.com/office/drawing/2014/main" val="3784545924"/>
                  </a:ext>
                </a:extLst>
              </a:tr>
              <a:tr h="377700">
                <a:tc>
                  <a:txBody>
                    <a:bodyPr/>
                    <a:lstStyle/>
                    <a:p>
                      <a:pPr>
                        <a:buNone/>
                      </a:pPr>
                      <a:r>
                        <a:rPr lang="en-US" b="1"/>
                        <a:t>BigQuery</a:t>
                      </a:r>
                      <a:r>
                        <a:rPr lang="en-US"/>
                        <a:t> (optional add if used)</a:t>
                      </a:r>
                    </a:p>
                  </a:txBody>
                  <a:tcPr anchor="ctr"/>
                </a:tc>
                <a:tc>
                  <a:txBody>
                    <a:bodyPr/>
                    <a:lstStyle/>
                    <a:p>
                      <a:pPr>
                        <a:buNone/>
                      </a:pPr>
                      <a:r>
                        <a:rPr lang="en-IN"/>
                        <a:t>Large-scale data processing</a:t>
                      </a:r>
                    </a:p>
                  </a:txBody>
                  <a:tcPr anchor="ctr"/>
                </a:tc>
                <a:extLst>
                  <a:ext uri="{0D108BD9-81ED-4DB2-BD59-A6C34878D82A}">
                    <a16:rowId xmlns:a16="http://schemas.microsoft.com/office/drawing/2014/main" val="2742265574"/>
                  </a:ext>
                </a:extLst>
              </a:tr>
              <a:tr h="266554">
                <a:tc>
                  <a:txBody>
                    <a:bodyPr/>
                    <a:lstStyle/>
                    <a:p>
                      <a:pPr>
                        <a:buNone/>
                      </a:pPr>
                      <a:r>
                        <a:rPr lang="en-IN" b="1"/>
                        <a:t>Firestore</a:t>
                      </a:r>
                      <a:endParaRPr lang="en-IN"/>
                    </a:p>
                  </a:txBody>
                  <a:tcPr anchor="ctr"/>
                </a:tc>
                <a:tc>
                  <a:txBody>
                    <a:bodyPr/>
                    <a:lstStyle/>
                    <a:p>
                      <a:pPr>
                        <a:buNone/>
                      </a:pPr>
                      <a:r>
                        <a:rPr lang="en-IN"/>
                        <a:t>Real-time data &amp; audit logs</a:t>
                      </a:r>
                    </a:p>
                  </a:txBody>
                  <a:tcPr anchor="ctr"/>
                </a:tc>
                <a:extLst>
                  <a:ext uri="{0D108BD9-81ED-4DB2-BD59-A6C34878D82A}">
                    <a16:rowId xmlns:a16="http://schemas.microsoft.com/office/drawing/2014/main" val="3489450020"/>
                  </a:ext>
                </a:extLst>
              </a:tr>
              <a:tr h="266554">
                <a:tc>
                  <a:txBody>
                    <a:bodyPr/>
                    <a:lstStyle/>
                    <a:p>
                      <a:pPr>
                        <a:buNone/>
                      </a:pPr>
                      <a:r>
                        <a:rPr lang="en-IN" b="1"/>
                        <a:t>Cloud Storage</a:t>
                      </a:r>
                      <a:endParaRPr lang="en-IN"/>
                    </a:p>
                  </a:txBody>
                  <a:tcPr anchor="ctr"/>
                </a:tc>
                <a:tc>
                  <a:txBody>
                    <a:bodyPr/>
                    <a:lstStyle/>
                    <a:p>
                      <a:pPr>
                        <a:buNone/>
                      </a:pPr>
                      <a:r>
                        <a:rPr lang="en-IN"/>
                        <a:t>Store reports (PDFs, CSVs)</a:t>
                      </a:r>
                    </a:p>
                  </a:txBody>
                  <a:tcPr anchor="ctr"/>
                </a:tc>
                <a:extLst>
                  <a:ext uri="{0D108BD9-81ED-4DB2-BD59-A6C34878D82A}">
                    <a16:rowId xmlns:a16="http://schemas.microsoft.com/office/drawing/2014/main" val="2445532204"/>
                  </a:ext>
                </a:extLst>
              </a:tr>
              <a:tr h="266554">
                <a:tc>
                  <a:txBody>
                    <a:bodyPr/>
                    <a:lstStyle/>
                    <a:p>
                      <a:pPr>
                        <a:buNone/>
                      </a:pPr>
                      <a:r>
                        <a:rPr lang="en-IN" b="1"/>
                        <a:t>Cloud Run</a:t>
                      </a:r>
                      <a:endParaRPr lang="en-IN"/>
                    </a:p>
                  </a:txBody>
                  <a:tcPr anchor="ctr"/>
                </a:tc>
                <a:tc>
                  <a:txBody>
                    <a:bodyPr/>
                    <a:lstStyle/>
                    <a:p>
                      <a:pPr>
                        <a:buNone/>
                      </a:pPr>
                      <a:r>
                        <a:rPr lang="en-IN" dirty="0"/>
                        <a:t>Backend deployment &amp; scaling</a:t>
                      </a:r>
                    </a:p>
                  </a:txBody>
                  <a:tcPr anchor="ctr"/>
                </a:tc>
                <a:extLst>
                  <a:ext uri="{0D108BD9-81ED-4DB2-BD59-A6C34878D82A}">
                    <a16:rowId xmlns:a16="http://schemas.microsoft.com/office/drawing/2014/main" val="2427499663"/>
                  </a:ext>
                </a:extLst>
              </a:tr>
              <a:tr h="266554">
                <a:tc>
                  <a:txBody>
                    <a:bodyPr/>
                    <a:lstStyle/>
                    <a:p>
                      <a:pPr>
                        <a:buNone/>
                      </a:pPr>
                      <a:r>
                        <a:rPr lang="en-IN" b="1"/>
                        <a:t>Google Maps Platform</a:t>
                      </a:r>
                      <a:endParaRPr lang="en-IN"/>
                    </a:p>
                  </a:txBody>
                  <a:tcPr anchor="ctr"/>
                </a:tc>
                <a:tc>
                  <a:txBody>
                    <a:bodyPr/>
                    <a:lstStyle/>
                    <a:p>
                      <a:pPr>
                        <a:buNone/>
                      </a:pPr>
                      <a:r>
                        <a:rPr lang="en-IN"/>
                        <a:t>Heatmaps &amp; zone visualization</a:t>
                      </a:r>
                    </a:p>
                  </a:txBody>
                  <a:tcPr anchor="ctr"/>
                </a:tc>
                <a:extLst>
                  <a:ext uri="{0D108BD9-81ED-4DB2-BD59-A6C34878D82A}">
                    <a16:rowId xmlns:a16="http://schemas.microsoft.com/office/drawing/2014/main" val="3191070091"/>
                  </a:ext>
                </a:extLst>
              </a:tr>
              <a:tr h="266554">
                <a:tc>
                  <a:txBody>
                    <a:bodyPr/>
                    <a:lstStyle/>
                    <a:p>
                      <a:pPr>
                        <a:buNone/>
                      </a:pPr>
                      <a:r>
                        <a:rPr lang="en-IN" b="1"/>
                        <a:t>Google Auth</a:t>
                      </a:r>
                      <a:endParaRPr lang="en-IN"/>
                    </a:p>
                  </a:txBody>
                  <a:tcPr anchor="ctr"/>
                </a:tc>
                <a:tc>
                  <a:txBody>
                    <a:bodyPr/>
                    <a:lstStyle/>
                    <a:p>
                      <a:pPr>
                        <a:buNone/>
                      </a:pPr>
                      <a:r>
                        <a:rPr lang="en-IN"/>
                        <a:t>Secure access control</a:t>
                      </a:r>
                    </a:p>
                  </a:txBody>
                  <a:tcPr anchor="ctr"/>
                </a:tc>
                <a:extLst>
                  <a:ext uri="{0D108BD9-81ED-4DB2-BD59-A6C34878D82A}">
                    <a16:rowId xmlns:a16="http://schemas.microsoft.com/office/drawing/2014/main" val="1444251936"/>
                  </a:ext>
                </a:extLst>
              </a:tr>
              <a:tr h="377700">
                <a:tc>
                  <a:txBody>
                    <a:bodyPr/>
                    <a:lstStyle/>
                    <a:p>
                      <a:pPr>
                        <a:buNone/>
                      </a:pPr>
                      <a:r>
                        <a:rPr lang="en-IN" b="1" dirty="0"/>
                        <a:t>Looker Studio</a:t>
                      </a:r>
                      <a:endParaRPr lang="en-IN" dirty="0"/>
                    </a:p>
                  </a:txBody>
                  <a:tcPr anchor="ctr"/>
                </a:tc>
                <a:tc>
                  <a:txBody>
                    <a:bodyPr/>
                    <a:lstStyle/>
                    <a:p>
                      <a:pPr>
                        <a:buNone/>
                      </a:pPr>
                      <a:r>
                        <a:rPr lang="en-IN" dirty="0"/>
                        <a:t>Analytics &amp; reporting dashboard</a:t>
                      </a:r>
                    </a:p>
                  </a:txBody>
                  <a:tcPr anchor="ctr"/>
                </a:tc>
                <a:extLst>
                  <a:ext uri="{0D108BD9-81ED-4DB2-BD59-A6C34878D82A}">
                    <a16:rowId xmlns:a16="http://schemas.microsoft.com/office/drawing/2014/main" val="1057455263"/>
                  </a:ext>
                </a:extLst>
              </a:tr>
            </a:tbl>
          </a:graphicData>
        </a:graphic>
      </p:graphicFrame>
      <p:sp>
        <p:nvSpPr>
          <p:cNvPr id="9" name="TextBox 8">
            <a:extLst>
              <a:ext uri="{FF2B5EF4-FFF2-40B4-BE49-F238E27FC236}">
                <a16:creationId xmlns:a16="http://schemas.microsoft.com/office/drawing/2014/main" id="{69020491-8C8B-9FDC-BBDF-53E2D9AC3BE5}"/>
              </a:ext>
            </a:extLst>
          </p:cNvPr>
          <p:cNvSpPr txBox="1"/>
          <p:nvPr/>
        </p:nvSpPr>
        <p:spPr>
          <a:xfrm>
            <a:off x="158826" y="994028"/>
            <a:ext cx="5582705" cy="369332"/>
          </a:xfrm>
          <a:prstGeom prst="rect">
            <a:avLst/>
          </a:prstGeom>
          <a:noFill/>
        </p:spPr>
        <p:txBody>
          <a:bodyPr wrap="square">
            <a:spAutoFit/>
          </a:bodyPr>
          <a:lstStyle/>
          <a:p>
            <a:r>
              <a:rPr lang="en-US" sz="1800" b="1" dirty="0">
                <a:latin typeface="Google Sans" panose="020B0604020202020204" charset="0"/>
                <a:ea typeface="Google Sans" panose="020B0604020202020204" charset="0"/>
                <a:cs typeface="Google Sans" panose="020B0604020202020204" charset="0"/>
              </a:rPr>
              <a:t>Core System (Powered by Google Cloud)</a:t>
            </a:r>
            <a:endParaRPr lang="en-IN" sz="1800" b="1" dirty="0">
              <a:latin typeface="Google Sans" panose="020B0604020202020204" charset="0"/>
              <a:ea typeface="Google Sans" panose="020B0604020202020204" charset="0"/>
              <a:cs typeface="Google Sans" panose="020B0604020202020204" charset="0"/>
            </a:endParaRPr>
          </a:p>
        </p:txBody>
      </p:sp>
      <p:sp>
        <p:nvSpPr>
          <p:cNvPr id="11" name="TextBox 10">
            <a:extLst>
              <a:ext uri="{FF2B5EF4-FFF2-40B4-BE49-F238E27FC236}">
                <a16:creationId xmlns:a16="http://schemas.microsoft.com/office/drawing/2014/main" id="{03938AF8-A4C2-D6F4-6F37-51CCBA2CEBA4}"/>
              </a:ext>
            </a:extLst>
          </p:cNvPr>
          <p:cNvSpPr txBox="1"/>
          <p:nvPr/>
        </p:nvSpPr>
        <p:spPr>
          <a:xfrm>
            <a:off x="6096001" y="968831"/>
            <a:ext cx="4572000" cy="369332"/>
          </a:xfrm>
          <a:prstGeom prst="rect">
            <a:avLst/>
          </a:prstGeom>
          <a:noFill/>
        </p:spPr>
        <p:txBody>
          <a:bodyPr wrap="square">
            <a:spAutoFit/>
          </a:bodyPr>
          <a:lstStyle/>
          <a:p>
            <a:r>
              <a:rPr lang="en-IN" sz="1800" b="1" dirty="0">
                <a:latin typeface="Google Sans" panose="020B0604020202020204" charset="0"/>
                <a:ea typeface="Google Sans" panose="020B0604020202020204" charset="0"/>
                <a:cs typeface="Google Sans" panose="020B0604020202020204" charset="0"/>
              </a:rPr>
              <a:t>Supporting Technologies</a:t>
            </a:r>
          </a:p>
        </p:txBody>
      </p:sp>
      <p:graphicFrame>
        <p:nvGraphicFramePr>
          <p:cNvPr id="12" name="Table 11">
            <a:extLst>
              <a:ext uri="{FF2B5EF4-FFF2-40B4-BE49-F238E27FC236}">
                <a16:creationId xmlns:a16="http://schemas.microsoft.com/office/drawing/2014/main" id="{2C7734B7-5343-4B95-03C2-F6CB3DEDF4C5}"/>
              </a:ext>
            </a:extLst>
          </p:cNvPr>
          <p:cNvGraphicFramePr>
            <a:graphicFrameLocks noGrp="1"/>
          </p:cNvGraphicFramePr>
          <p:nvPr>
            <p:extLst>
              <p:ext uri="{D42A27DB-BD31-4B8C-83A1-F6EECF244321}">
                <p14:modId xmlns:p14="http://schemas.microsoft.com/office/powerpoint/2010/main" val="62895498"/>
              </p:ext>
            </p:extLst>
          </p:nvPr>
        </p:nvGraphicFramePr>
        <p:xfrm>
          <a:off x="6307533" y="1363360"/>
          <a:ext cx="2424060" cy="2286000"/>
        </p:xfrm>
        <a:graphic>
          <a:graphicData uri="http://schemas.openxmlformats.org/drawingml/2006/table">
            <a:tbl>
              <a:tblPr>
                <a:tableStyleId>{3C2FFA5D-87B4-456A-9821-1D502468CF0F}</a:tableStyleId>
              </a:tblPr>
              <a:tblGrid>
                <a:gridCol w="1212030">
                  <a:extLst>
                    <a:ext uri="{9D8B030D-6E8A-4147-A177-3AD203B41FA5}">
                      <a16:colId xmlns:a16="http://schemas.microsoft.com/office/drawing/2014/main" val="774634431"/>
                    </a:ext>
                  </a:extLst>
                </a:gridCol>
                <a:gridCol w="1212030">
                  <a:extLst>
                    <a:ext uri="{9D8B030D-6E8A-4147-A177-3AD203B41FA5}">
                      <a16:colId xmlns:a16="http://schemas.microsoft.com/office/drawing/2014/main" val="3427225280"/>
                    </a:ext>
                  </a:extLst>
                </a:gridCol>
              </a:tblGrid>
              <a:tr h="0">
                <a:tc>
                  <a:txBody>
                    <a:bodyPr/>
                    <a:lstStyle/>
                    <a:p>
                      <a:pPr>
                        <a:buNone/>
                      </a:pPr>
                      <a:r>
                        <a:rPr lang="en-IN" dirty="0"/>
                        <a:t>Technology</a:t>
                      </a:r>
                    </a:p>
                  </a:txBody>
                  <a:tcPr anchor="ctr"/>
                </a:tc>
                <a:tc>
                  <a:txBody>
                    <a:bodyPr/>
                    <a:lstStyle/>
                    <a:p>
                      <a:pPr>
                        <a:buNone/>
                      </a:pPr>
                      <a:r>
                        <a:rPr lang="en-IN"/>
                        <a:t>Purpose</a:t>
                      </a:r>
                    </a:p>
                  </a:txBody>
                  <a:tcPr anchor="ctr"/>
                </a:tc>
                <a:extLst>
                  <a:ext uri="{0D108BD9-81ED-4DB2-BD59-A6C34878D82A}">
                    <a16:rowId xmlns:a16="http://schemas.microsoft.com/office/drawing/2014/main" val="2167903722"/>
                  </a:ext>
                </a:extLst>
              </a:tr>
              <a:tr h="0">
                <a:tc>
                  <a:txBody>
                    <a:bodyPr/>
                    <a:lstStyle/>
                    <a:p>
                      <a:pPr>
                        <a:buNone/>
                      </a:pPr>
                      <a:r>
                        <a:rPr lang="en-IN" b="1"/>
                        <a:t>React (Vite)</a:t>
                      </a:r>
                      <a:endParaRPr lang="en-IN"/>
                    </a:p>
                  </a:txBody>
                  <a:tcPr anchor="ctr"/>
                </a:tc>
                <a:tc>
                  <a:txBody>
                    <a:bodyPr/>
                    <a:lstStyle/>
                    <a:p>
                      <a:pPr>
                        <a:buNone/>
                      </a:pPr>
                      <a:r>
                        <a:rPr lang="en-IN"/>
                        <a:t>Frontend dashboard</a:t>
                      </a:r>
                    </a:p>
                  </a:txBody>
                  <a:tcPr anchor="ctr"/>
                </a:tc>
                <a:extLst>
                  <a:ext uri="{0D108BD9-81ED-4DB2-BD59-A6C34878D82A}">
                    <a16:rowId xmlns:a16="http://schemas.microsoft.com/office/drawing/2014/main" val="489613736"/>
                  </a:ext>
                </a:extLst>
              </a:tr>
              <a:tr h="0">
                <a:tc>
                  <a:txBody>
                    <a:bodyPr/>
                    <a:lstStyle/>
                    <a:p>
                      <a:pPr>
                        <a:buNone/>
                      </a:pPr>
                      <a:r>
                        <a:rPr lang="en-IN" b="1" dirty="0" err="1"/>
                        <a:t>FastAPI</a:t>
                      </a:r>
                      <a:r>
                        <a:rPr lang="en-IN" b="1" dirty="0"/>
                        <a:t> (Python)</a:t>
                      </a:r>
                      <a:endParaRPr lang="en-IN" dirty="0"/>
                    </a:p>
                  </a:txBody>
                  <a:tcPr anchor="ctr"/>
                </a:tc>
                <a:tc>
                  <a:txBody>
                    <a:bodyPr/>
                    <a:lstStyle/>
                    <a:p>
                      <a:pPr>
                        <a:buNone/>
                      </a:pPr>
                      <a:r>
                        <a:rPr lang="en-IN"/>
                        <a:t>Backend &amp; allocation engine</a:t>
                      </a:r>
                    </a:p>
                  </a:txBody>
                  <a:tcPr anchor="ctr"/>
                </a:tc>
                <a:extLst>
                  <a:ext uri="{0D108BD9-81ED-4DB2-BD59-A6C34878D82A}">
                    <a16:rowId xmlns:a16="http://schemas.microsoft.com/office/drawing/2014/main" val="3766570909"/>
                  </a:ext>
                </a:extLst>
              </a:tr>
              <a:tr h="0">
                <a:tc>
                  <a:txBody>
                    <a:bodyPr/>
                    <a:lstStyle/>
                    <a:p>
                      <a:pPr>
                        <a:buNone/>
                      </a:pPr>
                      <a:r>
                        <a:rPr lang="en-IN" b="1" dirty="0"/>
                        <a:t>MongoDB</a:t>
                      </a:r>
                      <a:endParaRPr lang="en-IN" dirty="0"/>
                    </a:p>
                  </a:txBody>
                  <a:tcPr anchor="ctr"/>
                </a:tc>
                <a:tc>
                  <a:txBody>
                    <a:bodyPr/>
                    <a:lstStyle/>
                    <a:p>
                      <a:pPr>
                        <a:buNone/>
                      </a:pPr>
                      <a:r>
                        <a:rPr lang="en-IN" dirty="0"/>
                        <a:t>Volunteer &amp; program data</a:t>
                      </a:r>
                    </a:p>
                  </a:txBody>
                  <a:tcPr anchor="ctr"/>
                </a:tc>
                <a:extLst>
                  <a:ext uri="{0D108BD9-81ED-4DB2-BD59-A6C34878D82A}">
                    <a16:rowId xmlns:a16="http://schemas.microsoft.com/office/drawing/2014/main" val="296659784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4"/>
          <p:cNvSpPr txBox="1"/>
          <p:nvPr/>
        </p:nvSpPr>
        <p:spPr>
          <a:xfrm>
            <a:off x="158825" y="818550"/>
            <a:ext cx="8845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Estimated implementation cost (optional)</a:t>
            </a:r>
          </a:p>
          <a:p>
            <a:pPr marL="0" marR="0" lvl="0" indent="0" algn="l" rtl="0">
              <a:lnSpc>
                <a:spcPct val="100000"/>
              </a:lnSpc>
              <a:spcBef>
                <a:spcPts val="0"/>
              </a:spcBef>
              <a:spcAft>
                <a:spcPts val="0"/>
              </a:spcAft>
              <a:buClr>
                <a:srgbClr val="000000"/>
              </a:buClr>
              <a:buSzPts val="1800"/>
              <a:buFont typeface="Arial"/>
              <a:buNone/>
            </a:pPr>
            <a:endParaRPr lang="en-GB" sz="1800" b="1" dirty="0">
              <a:latin typeface="Google Sans" panose="020B0604020202020204" charset="0"/>
              <a:ea typeface="Google Sans" panose="020B0604020202020204" charset="0"/>
              <a:cs typeface="Google Sans" panose="020B0604020202020204" charset="0"/>
              <a:sym typeface="Google Sans"/>
            </a:endParaRPr>
          </a:p>
          <a:p>
            <a:pPr marL="0" marR="0" lvl="0" indent="0" algn="l" rtl="0">
              <a:lnSpc>
                <a:spcPct val="100000"/>
              </a:lnSpc>
              <a:spcBef>
                <a:spcPts val="0"/>
              </a:spcBef>
              <a:spcAft>
                <a:spcPts val="0"/>
              </a:spcAft>
              <a:buClr>
                <a:srgbClr val="000000"/>
              </a:buClr>
              <a:buSzPts val="1800"/>
              <a:buFont typeface="Arial"/>
              <a:buNone/>
            </a:pPr>
            <a:endParaRPr lang="en-GB" sz="1800" b="1" dirty="0">
              <a:latin typeface="Google Sans" panose="020B0604020202020204" charset="0"/>
              <a:ea typeface="Google Sans" panose="020B0604020202020204" charset="0"/>
              <a:cs typeface="Google Sans" panose="020B0604020202020204" charset="0"/>
              <a:sym typeface="Google Sans"/>
            </a:endParaRPr>
          </a:p>
          <a:p>
            <a:pPr lvl="0">
              <a:buSzPts val="1800"/>
            </a:pPr>
            <a:r>
              <a:rPr lang="en-IN" sz="1800" b="1" dirty="0">
                <a:latin typeface="Google Sans" panose="020B0604020202020204" charset="0"/>
                <a:ea typeface="Google Sans" panose="020B0604020202020204" charset="0"/>
                <a:cs typeface="Google Sans" panose="020B0604020202020204" charset="0"/>
              </a:rPr>
              <a:t>Development Cost (One-time)</a:t>
            </a:r>
            <a:endParaRPr sz="1800" b="1" i="0" u="none" strike="noStrike" cap="none" dirty="0">
              <a:solidFill>
                <a:srgbClr val="000000"/>
              </a:solidFill>
              <a:latin typeface="Google Sans" panose="020B0604020202020204" charset="0"/>
              <a:ea typeface="Google Sans" panose="020B0604020202020204" charset="0"/>
              <a:cs typeface="Google Sans" panose="020B0604020202020204" charset="0"/>
              <a:sym typeface="Google Sans"/>
            </a:endParaRPr>
          </a:p>
        </p:txBody>
      </p:sp>
      <p:pic>
        <p:nvPicPr>
          <p:cNvPr id="158" name="Google Shape;158;p34"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4" name="TextBox 3">
            <a:extLst>
              <a:ext uri="{FF2B5EF4-FFF2-40B4-BE49-F238E27FC236}">
                <a16:creationId xmlns:a16="http://schemas.microsoft.com/office/drawing/2014/main" id="{8E7FF8E5-F68E-2D3D-3A53-FEC1805F1946}"/>
              </a:ext>
            </a:extLst>
          </p:cNvPr>
          <p:cNvSpPr txBox="1"/>
          <p:nvPr/>
        </p:nvSpPr>
        <p:spPr>
          <a:xfrm>
            <a:off x="4065445" y="1681790"/>
            <a:ext cx="5123631" cy="369332"/>
          </a:xfrm>
          <a:prstGeom prst="rect">
            <a:avLst/>
          </a:prstGeom>
          <a:noFill/>
        </p:spPr>
        <p:txBody>
          <a:bodyPr wrap="square">
            <a:spAutoFit/>
          </a:bodyPr>
          <a:lstStyle/>
          <a:p>
            <a:r>
              <a:rPr lang="en-US" sz="1800" b="1" dirty="0">
                <a:latin typeface="Google Sans" panose="020B0604020202020204" charset="0"/>
                <a:ea typeface="Google Sans" panose="020B0604020202020204" charset="0"/>
                <a:cs typeface="Google Sans" panose="020B0604020202020204" charset="0"/>
              </a:rPr>
              <a:t>Infrastructure Cost (Monthly – MVP Scale)</a:t>
            </a:r>
            <a:endParaRPr lang="en-IN" sz="1800" b="1" dirty="0">
              <a:latin typeface="Google Sans" panose="020B0604020202020204" charset="0"/>
              <a:ea typeface="Google Sans" panose="020B0604020202020204" charset="0"/>
              <a:cs typeface="Google Sans" panose="020B0604020202020204" charset="0"/>
            </a:endParaRPr>
          </a:p>
        </p:txBody>
      </p:sp>
      <p:graphicFrame>
        <p:nvGraphicFramePr>
          <p:cNvPr id="5" name="Table 4">
            <a:extLst>
              <a:ext uri="{FF2B5EF4-FFF2-40B4-BE49-F238E27FC236}">
                <a16:creationId xmlns:a16="http://schemas.microsoft.com/office/drawing/2014/main" id="{2ACAB335-77E9-2AC9-C22B-053D9FEC21C3}"/>
              </a:ext>
            </a:extLst>
          </p:cNvPr>
          <p:cNvGraphicFramePr>
            <a:graphicFrameLocks noGrp="1"/>
          </p:cNvGraphicFramePr>
          <p:nvPr>
            <p:extLst>
              <p:ext uri="{D42A27DB-BD31-4B8C-83A1-F6EECF244321}">
                <p14:modId xmlns:p14="http://schemas.microsoft.com/office/powerpoint/2010/main" val="2736622059"/>
              </p:ext>
            </p:extLst>
          </p:nvPr>
        </p:nvGraphicFramePr>
        <p:xfrm>
          <a:off x="4211392" y="2124768"/>
          <a:ext cx="4486839" cy="2743200"/>
        </p:xfrm>
        <a:graphic>
          <a:graphicData uri="http://schemas.openxmlformats.org/drawingml/2006/table">
            <a:tbl>
              <a:tblPr>
                <a:tableStyleId>{284E427A-3D55-4303-BF80-6455036E1DE7}</a:tableStyleId>
              </a:tblPr>
              <a:tblGrid>
                <a:gridCol w="1995805">
                  <a:extLst>
                    <a:ext uri="{9D8B030D-6E8A-4147-A177-3AD203B41FA5}">
                      <a16:colId xmlns:a16="http://schemas.microsoft.com/office/drawing/2014/main" val="1145861729"/>
                    </a:ext>
                  </a:extLst>
                </a:gridCol>
                <a:gridCol w="2491034">
                  <a:extLst>
                    <a:ext uri="{9D8B030D-6E8A-4147-A177-3AD203B41FA5}">
                      <a16:colId xmlns:a16="http://schemas.microsoft.com/office/drawing/2014/main" val="3296775301"/>
                    </a:ext>
                  </a:extLst>
                </a:gridCol>
              </a:tblGrid>
              <a:tr h="0">
                <a:tc>
                  <a:txBody>
                    <a:bodyPr/>
                    <a:lstStyle/>
                    <a:p>
                      <a:pPr>
                        <a:buNone/>
                      </a:pPr>
                      <a:r>
                        <a:rPr lang="en-IN" dirty="0">
                          <a:latin typeface="Google Sans" panose="020B0604020202020204" charset="0"/>
                          <a:ea typeface="Google Sans" panose="020B0604020202020204" charset="0"/>
                          <a:cs typeface="Google Sans" panose="020B0604020202020204" charset="0"/>
                        </a:rPr>
                        <a:t>Service</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Estimated Cost / Month</a:t>
                      </a:r>
                    </a:p>
                  </a:txBody>
                  <a:tcPr anchor="ctr"/>
                </a:tc>
                <a:extLst>
                  <a:ext uri="{0D108BD9-81ED-4DB2-BD59-A6C34878D82A}">
                    <a16:rowId xmlns:a16="http://schemas.microsoft.com/office/drawing/2014/main" val="684769278"/>
                  </a:ext>
                </a:extLst>
              </a:tr>
              <a:tr h="0">
                <a:tc>
                  <a:txBody>
                    <a:bodyPr/>
                    <a:lstStyle/>
                    <a:p>
                      <a:pPr>
                        <a:buNone/>
                      </a:pPr>
                      <a:r>
                        <a:rPr lang="en-IN" dirty="0">
                          <a:latin typeface="Google Sans" panose="020B0604020202020204" charset="0"/>
                          <a:ea typeface="Google Sans" panose="020B0604020202020204" charset="0"/>
                          <a:cs typeface="Google Sans" panose="020B0604020202020204" charset="0"/>
                        </a:rPr>
                        <a:t>Google Cloud Run</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$0 – $5</a:t>
                      </a:r>
                    </a:p>
                  </a:txBody>
                  <a:tcPr anchor="ctr"/>
                </a:tc>
                <a:extLst>
                  <a:ext uri="{0D108BD9-81ED-4DB2-BD59-A6C34878D82A}">
                    <a16:rowId xmlns:a16="http://schemas.microsoft.com/office/drawing/2014/main" val="475532555"/>
                  </a:ext>
                </a:extLst>
              </a:tr>
              <a:tr h="0">
                <a:tc>
                  <a:txBody>
                    <a:bodyPr/>
                    <a:lstStyle/>
                    <a:p>
                      <a:pPr>
                        <a:buNone/>
                      </a:pPr>
                      <a:r>
                        <a:rPr lang="en-IN" dirty="0" err="1">
                          <a:latin typeface="Google Sans" panose="020B0604020202020204" charset="0"/>
                          <a:ea typeface="Google Sans" panose="020B0604020202020204" charset="0"/>
                          <a:cs typeface="Google Sans" panose="020B0604020202020204" charset="0"/>
                        </a:rPr>
                        <a:t>Firestore</a:t>
                      </a:r>
                      <a:endParaRPr lang="en-IN" dirty="0">
                        <a:latin typeface="Google Sans" panose="020B0604020202020204" charset="0"/>
                        <a:ea typeface="Google Sans" panose="020B0604020202020204" charset="0"/>
                        <a:cs typeface="Google Sans" panose="020B0604020202020204" charset="0"/>
                      </a:endParaRP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$0 – $3</a:t>
                      </a:r>
                    </a:p>
                  </a:txBody>
                  <a:tcPr anchor="ctr"/>
                </a:tc>
                <a:extLst>
                  <a:ext uri="{0D108BD9-81ED-4DB2-BD59-A6C34878D82A}">
                    <a16:rowId xmlns:a16="http://schemas.microsoft.com/office/drawing/2014/main" val="1952224979"/>
                  </a:ext>
                </a:extLst>
              </a:tr>
              <a:tr h="0">
                <a:tc>
                  <a:txBody>
                    <a:bodyPr/>
                    <a:lstStyle/>
                    <a:p>
                      <a:pPr>
                        <a:buNone/>
                      </a:pPr>
                      <a:r>
                        <a:rPr lang="en-IN" dirty="0">
                          <a:latin typeface="Google Sans" panose="020B0604020202020204" charset="0"/>
                          <a:ea typeface="Google Sans" panose="020B0604020202020204" charset="0"/>
                          <a:cs typeface="Google Sans" panose="020B0604020202020204" charset="0"/>
                        </a:rPr>
                        <a:t>Cloud Storage</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$1 – $2</a:t>
                      </a:r>
                    </a:p>
                  </a:txBody>
                  <a:tcPr anchor="ctr"/>
                </a:tc>
                <a:extLst>
                  <a:ext uri="{0D108BD9-81ED-4DB2-BD59-A6C34878D82A}">
                    <a16:rowId xmlns:a16="http://schemas.microsoft.com/office/drawing/2014/main" val="1074521818"/>
                  </a:ext>
                </a:extLst>
              </a:tr>
              <a:tr h="0">
                <a:tc>
                  <a:txBody>
                    <a:bodyPr/>
                    <a:lstStyle/>
                    <a:p>
                      <a:pPr>
                        <a:buNone/>
                      </a:pPr>
                      <a:r>
                        <a:rPr lang="en-IN" dirty="0">
                          <a:latin typeface="Google Sans" panose="020B0604020202020204" charset="0"/>
                          <a:ea typeface="Google Sans" panose="020B0604020202020204" charset="0"/>
                          <a:cs typeface="Google Sans" panose="020B0604020202020204" charset="0"/>
                        </a:rPr>
                        <a:t>Gemini API</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$5 – $15</a:t>
                      </a:r>
                    </a:p>
                  </a:txBody>
                  <a:tcPr anchor="ctr"/>
                </a:tc>
                <a:extLst>
                  <a:ext uri="{0D108BD9-81ED-4DB2-BD59-A6C34878D82A}">
                    <a16:rowId xmlns:a16="http://schemas.microsoft.com/office/drawing/2014/main" val="4171489651"/>
                  </a:ext>
                </a:extLst>
              </a:tr>
              <a:tr h="0">
                <a:tc>
                  <a:txBody>
                    <a:bodyPr/>
                    <a:lstStyle/>
                    <a:p>
                      <a:pPr>
                        <a:buNone/>
                      </a:pPr>
                      <a:r>
                        <a:rPr lang="en-IN" dirty="0">
                          <a:latin typeface="Google Sans" panose="020B0604020202020204" charset="0"/>
                          <a:ea typeface="Google Sans" panose="020B0604020202020204" charset="0"/>
                          <a:cs typeface="Google Sans" panose="020B0604020202020204" charset="0"/>
                        </a:rPr>
                        <a:t>Vertex AI</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$10 – $20</a:t>
                      </a:r>
                    </a:p>
                  </a:txBody>
                  <a:tcPr anchor="ctr"/>
                </a:tc>
                <a:extLst>
                  <a:ext uri="{0D108BD9-81ED-4DB2-BD59-A6C34878D82A}">
                    <a16:rowId xmlns:a16="http://schemas.microsoft.com/office/drawing/2014/main" val="1609183023"/>
                  </a:ext>
                </a:extLst>
              </a:tr>
              <a:tr h="0">
                <a:tc>
                  <a:txBody>
                    <a:bodyPr/>
                    <a:lstStyle/>
                    <a:p>
                      <a:pPr>
                        <a:buNone/>
                      </a:pPr>
                      <a:r>
                        <a:rPr lang="en-IN" dirty="0">
                          <a:latin typeface="Google Sans" panose="020B0604020202020204" charset="0"/>
                          <a:ea typeface="Google Sans" panose="020B0604020202020204" charset="0"/>
                          <a:cs typeface="Google Sans" panose="020B0604020202020204" charset="0"/>
                        </a:rPr>
                        <a:t>Google Maps Platform</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$0 – $7</a:t>
                      </a:r>
                    </a:p>
                  </a:txBody>
                  <a:tcPr anchor="ctr"/>
                </a:tc>
                <a:extLst>
                  <a:ext uri="{0D108BD9-81ED-4DB2-BD59-A6C34878D82A}">
                    <a16:rowId xmlns:a16="http://schemas.microsoft.com/office/drawing/2014/main" val="809097278"/>
                  </a:ext>
                </a:extLst>
              </a:tr>
              <a:tr h="0">
                <a:tc>
                  <a:txBody>
                    <a:bodyPr/>
                    <a:lstStyle/>
                    <a:p>
                      <a:pPr>
                        <a:buNone/>
                      </a:pPr>
                      <a:r>
                        <a:rPr lang="en-IN" dirty="0">
                          <a:latin typeface="Google Sans" panose="020B0604020202020204" charset="0"/>
                          <a:ea typeface="Google Sans" panose="020B0604020202020204" charset="0"/>
                          <a:cs typeface="Google Sans" panose="020B0604020202020204" charset="0"/>
                        </a:rPr>
                        <a:t>Google Auth</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$0</a:t>
                      </a:r>
                    </a:p>
                  </a:txBody>
                  <a:tcPr anchor="ctr"/>
                </a:tc>
                <a:extLst>
                  <a:ext uri="{0D108BD9-81ED-4DB2-BD59-A6C34878D82A}">
                    <a16:rowId xmlns:a16="http://schemas.microsoft.com/office/drawing/2014/main" val="337038730"/>
                  </a:ext>
                </a:extLst>
              </a:tr>
              <a:tr h="0">
                <a:tc>
                  <a:txBody>
                    <a:bodyPr/>
                    <a:lstStyle/>
                    <a:p>
                      <a:pPr>
                        <a:buNone/>
                      </a:pPr>
                      <a:r>
                        <a:rPr lang="en-IN" b="1" dirty="0">
                          <a:latin typeface="Google Sans" panose="020B0604020202020204" charset="0"/>
                          <a:ea typeface="Google Sans" panose="020B0604020202020204" charset="0"/>
                          <a:cs typeface="Google Sans" panose="020B0604020202020204" charset="0"/>
                        </a:rPr>
                        <a:t>Total Estimate</a:t>
                      </a:r>
                      <a:endParaRPr lang="en-IN" dirty="0">
                        <a:latin typeface="Google Sans" panose="020B0604020202020204" charset="0"/>
                        <a:ea typeface="Google Sans" panose="020B0604020202020204" charset="0"/>
                        <a:cs typeface="Google Sans" panose="020B0604020202020204" charset="0"/>
                      </a:endParaRPr>
                    </a:p>
                  </a:txBody>
                  <a:tcPr anchor="ctr"/>
                </a:tc>
                <a:tc>
                  <a:txBody>
                    <a:bodyPr/>
                    <a:lstStyle/>
                    <a:p>
                      <a:pPr>
                        <a:buNone/>
                      </a:pPr>
                      <a:r>
                        <a:rPr lang="en-IN" b="1" dirty="0">
                          <a:latin typeface="Google Sans" panose="020B0604020202020204" charset="0"/>
                          <a:ea typeface="Google Sans" panose="020B0604020202020204" charset="0"/>
                          <a:cs typeface="Google Sans" panose="020B0604020202020204" charset="0"/>
                        </a:rPr>
                        <a:t>$15 – $50 / month</a:t>
                      </a:r>
                      <a:endParaRPr lang="en-IN" dirty="0">
                        <a:latin typeface="Google Sans" panose="020B0604020202020204" charset="0"/>
                        <a:ea typeface="Google Sans" panose="020B0604020202020204" charset="0"/>
                        <a:cs typeface="Google Sans" panose="020B0604020202020204" charset="0"/>
                      </a:endParaRPr>
                    </a:p>
                  </a:txBody>
                  <a:tcPr anchor="ctr"/>
                </a:tc>
                <a:extLst>
                  <a:ext uri="{0D108BD9-81ED-4DB2-BD59-A6C34878D82A}">
                    <a16:rowId xmlns:a16="http://schemas.microsoft.com/office/drawing/2014/main" val="2776699771"/>
                  </a:ext>
                </a:extLst>
              </a:tr>
            </a:tbl>
          </a:graphicData>
        </a:graphic>
      </p:graphicFrame>
      <p:graphicFrame>
        <p:nvGraphicFramePr>
          <p:cNvPr id="6" name="Table 5">
            <a:extLst>
              <a:ext uri="{FF2B5EF4-FFF2-40B4-BE49-F238E27FC236}">
                <a16:creationId xmlns:a16="http://schemas.microsoft.com/office/drawing/2014/main" id="{1612BC1C-BC57-A94E-02CB-4EFEF0DE127E}"/>
              </a:ext>
            </a:extLst>
          </p:cNvPr>
          <p:cNvGraphicFramePr>
            <a:graphicFrameLocks noGrp="1"/>
          </p:cNvGraphicFramePr>
          <p:nvPr>
            <p:extLst>
              <p:ext uri="{D42A27DB-BD31-4B8C-83A1-F6EECF244321}">
                <p14:modId xmlns:p14="http://schemas.microsoft.com/office/powerpoint/2010/main" val="823080681"/>
              </p:ext>
            </p:extLst>
          </p:nvPr>
        </p:nvGraphicFramePr>
        <p:xfrm>
          <a:off x="343346" y="2124768"/>
          <a:ext cx="3011600" cy="2072640"/>
        </p:xfrm>
        <a:graphic>
          <a:graphicData uri="http://schemas.openxmlformats.org/drawingml/2006/table">
            <a:tbl>
              <a:tblPr>
                <a:tableStyleId>{284E427A-3D55-4303-BF80-6455036E1DE7}</a:tableStyleId>
              </a:tblPr>
              <a:tblGrid>
                <a:gridCol w="1505800">
                  <a:extLst>
                    <a:ext uri="{9D8B030D-6E8A-4147-A177-3AD203B41FA5}">
                      <a16:colId xmlns:a16="http://schemas.microsoft.com/office/drawing/2014/main" val="465118883"/>
                    </a:ext>
                  </a:extLst>
                </a:gridCol>
                <a:gridCol w="1505800">
                  <a:extLst>
                    <a:ext uri="{9D8B030D-6E8A-4147-A177-3AD203B41FA5}">
                      <a16:colId xmlns:a16="http://schemas.microsoft.com/office/drawing/2014/main" val="2615884307"/>
                    </a:ext>
                  </a:extLst>
                </a:gridCol>
              </a:tblGrid>
              <a:tr h="0">
                <a:tc>
                  <a:txBody>
                    <a:bodyPr/>
                    <a:lstStyle/>
                    <a:p>
                      <a:pPr>
                        <a:buNone/>
                      </a:pPr>
                      <a:r>
                        <a:rPr lang="en-IN" dirty="0">
                          <a:latin typeface="Google Sans" panose="020B0604020202020204" charset="0"/>
                          <a:ea typeface="Google Sans" panose="020B0604020202020204" charset="0"/>
                          <a:cs typeface="Google Sans" panose="020B0604020202020204" charset="0"/>
                        </a:rPr>
                        <a:t>Item</a:t>
                      </a:r>
                    </a:p>
                  </a:txBody>
                  <a:tcPr anchor="ctr"/>
                </a:tc>
                <a:tc>
                  <a:txBody>
                    <a:bodyPr/>
                    <a:lstStyle/>
                    <a:p>
                      <a:pPr>
                        <a:buNone/>
                      </a:pPr>
                      <a:r>
                        <a:rPr lang="en-IN" dirty="0">
                          <a:latin typeface="Google Sans" panose="020B0604020202020204" charset="0"/>
                          <a:ea typeface="Google Sans" panose="020B0604020202020204" charset="0"/>
                          <a:cs typeface="Google Sans" panose="020B0604020202020204" charset="0"/>
                        </a:rPr>
                        <a:t>Estimated Cost</a:t>
                      </a:r>
                    </a:p>
                  </a:txBody>
                  <a:tcPr anchor="ctr"/>
                </a:tc>
                <a:extLst>
                  <a:ext uri="{0D108BD9-81ED-4DB2-BD59-A6C34878D82A}">
                    <a16:rowId xmlns:a16="http://schemas.microsoft.com/office/drawing/2014/main" val="4144590440"/>
                  </a:ext>
                </a:extLst>
              </a:tr>
              <a:tr h="0">
                <a:tc>
                  <a:txBody>
                    <a:bodyPr/>
                    <a:lstStyle/>
                    <a:p>
                      <a:pPr>
                        <a:buNone/>
                      </a:pPr>
                      <a:r>
                        <a:rPr lang="en-US" dirty="0">
                          <a:latin typeface="Google Sans" panose="020B0604020202020204" charset="0"/>
                          <a:ea typeface="Google Sans" panose="020B0604020202020204" charset="0"/>
                          <a:cs typeface="Google Sans" panose="020B0604020202020204" charset="0"/>
                        </a:rPr>
                        <a:t>Google Cloud Credits</a:t>
                      </a:r>
                    </a:p>
                  </a:txBody>
                  <a:tcPr anchor="ctr"/>
                </a:tc>
                <a:tc>
                  <a:txBody>
                    <a:bodyPr/>
                    <a:lstStyle/>
                    <a:p>
                      <a:pPr>
                        <a:buNone/>
                      </a:pPr>
                      <a:r>
                        <a:rPr lang="en-IN" dirty="0">
                          <a:latin typeface="Google Sans" panose="020B0604020202020204" charset="0"/>
                          <a:ea typeface="Google Sans" panose="020B0604020202020204" charset="0"/>
                          <a:cs typeface="Google Sans" panose="020B0604020202020204" charset="0"/>
                        </a:rPr>
                        <a:t>$0 (Free Usage)</a:t>
                      </a:r>
                    </a:p>
                  </a:txBody>
                  <a:tcPr anchor="ctr"/>
                </a:tc>
                <a:extLst>
                  <a:ext uri="{0D108BD9-81ED-4DB2-BD59-A6C34878D82A}">
                    <a16:rowId xmlns:a16="http://schemas.microsoft.com/office/drawing/2014/main" val="1093187474"/>
                  </a:ext>
                </a:extLst>
              </a:tr>
              <a:tr h="0">
                <a:tc>
                  <a:txBody>
                    <a:bodyPr/>
                    <a:lstStyle/>
                    <a:p>
                      <a:pPr>
                        <a:buNone/>
                      </a:pPr>
                      <a:r>
                        <a:rPr lang="en-IN" dirty="0">
                          <a:latin typeface="Google Sans" panose="020B0604020202020204" charset="0"/>
                          <a:ea typeface="Google Sans" panose="020B0604020202020204" charset="0"/>
                          <a:cs typeface="Google Sans" panose="020B0604020202020204" charset="0"/>
                        </a:rPr>
                        <a:t>Domain + Hosting Setup</a:t>
                      </a:r>
                    </a:p>
                  </a:txBody>
                  <a:tcPr anchor="ctr"/>
                </a:tc>
                <a:tc>
                  <a:txBody>
                    <a:bodyPr/>
                    <a:lstStyle/>
                    <a:p>
                      <a:pPr>
                        <a:buNone/>
                      </a:pPr>
                      <a:r>
                        <a:rPr lang="en-IN">
                          <a:latin typeface="Google Sans" panose="020B0604020202020204" charset="0"/>
                          <a:ea typeface="Google Sans" panose="020B0604020202020204" charset="0"/>
                          <a:cs typeface="Google Sans" panose="020B0604020202020204" charset="0"/>
                        </a:rPr>
                        <a:t>~$10 – $15 / year</a:t>
                      </a:r>
                    </a:p>
                  </a:txBody>
                  <a:tcPr anchor="ctr"/>
                </a:tc>
                <a:extLst>
                  <a:ext uri="{0D108BD9-81ED-4DB2-BD59-A6C34878D82A}">
                    <a16:rowId xmlns:a16="http://schemas.microsoft.com/office/drawing/2014/main" val="1549799911"/>
                  </a:ext>
                </a:extLst>
              </a:tr>
              <a:tr h="0">
                <a:tc>
                  <a:txBody>
                    <a:bodyPr/>
                    <a:lstStyle/>
                    <a:p>
                      <a:pPr>
                        <a:buNone/>
                      </a:pPr>
                      <a:r>
                        <a:rPr lang="en-IN" b="1">
                          <a:latin typeface="Google Sans" panose="020B0604020202020204" charset="0"/>
                          <a:ea typeface="Google Sans" panose="020B0604020202020204" charset="0"/>
                          <a:cs typeface="Google Sans" panose="020B0604020202020204" charset="0"/>
                        </a:rPr>
                        <a:t>Third-party Tools / Design Assets</a:t>
                      </a:r>
                    </a:p>
                  </a:txBody>
                  <a:tcPr anchor="ctr"/>
                </a:tc>
                <a:tc>
                  <a:txBody>
                    <a:bodyPr/>
                    <a:lstStyle/>
                    <a:p>
                      <a:pPr>
                        <a:buNone/>
                      </a:pPr>
                      <a:r>
                        <a:rPr lang="en-IN" b="1" dirty="0">
                          <a:latin typeface="Google Sans" panose="020B0604020202020204" charset="0"/>
                          <a:ea typeface="Google Sans" panose="020B0604020202020204" charset="0"/>
                          <a:cs typeface="Google Sans" panose="020B0604020202020204" charset="0"/>
                        </a:rPr>
                        <a:t>$0 – $20</a:t>
                      </a:r>
                    </a:p>
                  </a:txBody>
                  <a:tcPr anchor="ctr"/>
                </a:tc>
                <a:extLst>
                  <a:ext uri="{0D108BD9-81ED-4DB2-BD59-A6C34878D82A}">
                    <a16:rowId xmlns:a16="http://schemas.microsoft.com/office/drawing/2014/main" val="263966545"/>
                  </a:ext>
                </a:extLst>
              </a:tr>
            </a:tbl>
          </a:graphicData>
        </a:graphic>
      </p:graphicFrame>
      <p:sp>
        <p:nvSpPr>
          <p:cNvPr id="7" name="TextBox 6">
            <a:extLst>
              <a:ext uri="{FF2B5EF4-FFF2-40B4-BE49-F238E27FC236}">
                <a16:creationId xmlns:a16="http://schemas.microsoft.com/office/drawing/2014/main" id="{2562A75D-D619-D84E-98C6-8E341088A613}"/>
              </a:ext>
            </a:extLst>
          </p:cNvPr>
          <p:cNvSpPr txBox="1"/>
          <p:nvPr/>
        </p:nvSpPr>
        <p:spPr>
          <a:xfrm>
            <a:off x="343346" y="4324950"/>
            <a:ext cx="3244775" cy="738664"/>
          </a:xfrm>
          <a:prstGeom prst="rect">
            <a:avLst/>
          </a:prstGeom>
          <a:noFill/>
        </p:spPr>
        <p:txBody>
          <a:bodyPr wrap="square" rtlCol="0">
            <a:spAutoFit/>
          </a:bodyPr>
          <a:lstStyle/>
          <a:p>
            <a:r>
              <a:rPr lang="en-US" b="1" dirty="0"/>
              <a:t>Note:</a:t>
            </a:r>
          </a:p>
          <a:p>
            <a:r>
              <a:rPr lang="en-US" b="1" dirty="0"/>
              <a:t>These Prices are taken officially from Google official pricing pages</a:t>
            </a:r>
            <a:endParaRPr lang="en-IN"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6"/>
          <p:cNvSpPr txBox="1"/>
          <p:nvPr/>
        </p:nvSpPr>
        <p:spPr>
          <a:xfrm>
            <a:off x="109950" y="781900"/>
            <a:ext cx="8894100" cy="69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Additional Details/Future Development (if any)</a:t>
            </a:r>
          </a:p>
          <a:p>
            <a:pPr marL="0" marR="0" lvl="0" indent="0" algn="l" rtl="0">
              <a:lnSpc>
                <a:spcPct val="100000"/>
              </a:lnSpc>
              <a:spcBef>
                <a:spcPts val="0"/>
              </a:spcBef>
              <a:spcAft>
                <a:spcPts val="0"/>
              </a:spcAft>
              <a:buClr>
                <a:srgbClr val="000000"/>
              </a:buClr>
              <a:buSzPts val="1800"/>
              <a:buFont typeface="Arial"/>
              <a:buNone/>
            </a:pPr>
            <a:endParaRPr lang="en-GB" sz="1800" dirty="0">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p:txBody>
      </p:sp>
      <p:pic>
        <p:nvPicPr>
          <p:cNvPr id="170" name="Google Shape;170;p36" title="frameeeee.png"/>
          <p:cNvPicPr preferRelativeResize="0"/>
          <p:nvPr/>
        </p:nvPicPr>
        <p:blipFill>
          <a:blip r:embed="rId3">
            <a:alphaModFix/>
          </a:blip>
          <a:stretch>
            <a:fillRect/>
          </a:stretch>
        </p:blipFill>
        <p:spPr>
          <a:xfrm>
            <a:off x="0" y="0"/>
            <a:ext cx="9144003" cy="589347"/>
          </a:xfrm>
          <a:prstGeom prst="rect">
            <a:avLst/>
          </a:prstGeom>
          <a:noFill/>
          <a:ln>
            <a:noFill/>
          </a:ln>
        </p:spPr>
      </p:pic>
      <p:sp>
        <p:nvSpPr>
          <p:cNvPr id="3" name="TextBox 2">
            <a:extLst>
              <a:ext uri="{FF2B5EF4-FFF2-40B4-BE49-F238E27FC236}">
                <a16:creationId xmlns:a16="http://schemas.microsoft.com/office/drawing/2014/main" id="{30D66982-0D03-2262-57AF-B77DF281CB55}"/>
              </a:ext>
            </a:extLst>
          </p:cNvPr>
          <p:cNvSpPr txBox="1"/>
          <p:nvPr/>
        </p:nvSpPr>
        <p:spPr>
          <a:xfrm>
            <a:off x="139950" y="1130050"/>
            <a:ext cx="8894100" cy="3785652"/>
          </a:xfrm>
          <a:prstGeom prst="rect">
            <a:avLst/>
          </a:prstGeom>
          <a:noFill/>
        </p:spPr>
        <p:txBody>
          <a:bodyPr wrap="square">
            <a:spAutoFit/>
          </a:bodyPr>
          <a:lstStyle/>
          <a:p>
            <a:pPr>
              <a:buNone/>
            </a:pPr>
            <a:r>
              <a:rPr lang="en-IN" sz="1200" b="1" dirty="0">
                <a:latin typeface="Google Sans" panose="020B0604020202020204" charset="0"/>
                <a:ea typeface="Google Sans" panose="020B0604020202020204" charset="0"/>
                <a:cs typeface="Google Sans" panose="020B0604020202020204" charset="0"/>
              </a:rPr>
              <a:t>Smart Data &amp; AI Enhancements</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Automated report understanding using </a:t>
            </a:r>
            <a:r>
              <a:rPr lang="en-IN" sz="1200" b="1" dirty="0">
                <a:latin typeface="Google Sans" panose="020B0604020202020204" charset="0"/>
                <a:ea typeface="Google Sans" panose="020B0604020202020204" charset="0"/>
                <a:cs typeface="Google Sans" panose="020B0604020202020204" charset="0"/>
              </a:rPr>
              <a:t>advanced Gemini models (multimodal)</a:t>
            </a:r>
            <a:r>
              <a:rPr lang="en-IN" sz="1200" dirty="0">
                <a:latin typeface="Google Sans" panose="020B0604020202020204" charset="0"/>
                <a:ea typeface="Google Sans" panose="020B0604020202020204" charset="0"/>
                <a:cs typeface="Google Sans" panose="020B0604020202020204" charset="0"/>
              </a:rPr>
              <a:t>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Real-time urgency detection from live data streams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AI-generated </a:t>
            </a:r>
            <a:r>
              <a:rPr lang="en-IN" sz="1200" b="1" dirty="0">
                <a:latin typeface="Google Sans" panose="020B0604020202020204" charset="0"/>
                <a:ea typeface="Google Sans" panose="020B0604020202020204" charset="0"/>
                <a:cs typeface="Google Sans" panose="020B0604020202020204" charset="0"/>
              </a:rPr>
              <a:t>action plans (not just recommendations)</a:t>
            </a:r>
            <a:r>
              <a:rPr lang="en-IN" sz="1200" dirty="0">
                <a:latin typeface="Google Sans" panose="020B0604020202020204" charset="0"/>
                <a:ea typeface="Google Sans" panose="020B0604020202020204" charset="0"/>
                <a:cs typeface="Google Sans" panose="020B0604020202020204" charset="0"/>
              </a:rPr>
              <a:t> </a:t>
            </a:r>
          </a:p>
          <a:p>
            <a:endParaRPr lang="en-IN" sz="1200" dirty="0">
              <a:latin typeface="Google Sans" panose="020B0604020202020204" charset="0"/>
              <a:ea typeface="Google Sans" panose="020B0604020202020204" charset="0"/>
              <a:cs typeface="Google Sans" panose="020B0604020202020204" charset="0"/>
            </a:endParaRPr>
          </a:p>
          <a:p>
            <a:pPr>
              <a:buNone/>
            </a:pPr>
            <a:r>
              <a:rPr lang="en-IN" sz="1200" b="1" dirty="0">
                <a:latin typeface="Google Sans" panose="020B0604020202020204" charset="0"/>
                <a:ea typeface="Google Sans" panose="020B0604020202020204" charset="0"/>
                <a:cs typeface="Google Sans" panose="020B0604020202020204" charset="0"/>
              </a:rPr>
              <a:t>Advanced Decision Intelligence</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Reinforcement learning for </a:t>
            </a:r>
            <a:r>
              <a:rPr lang="en-IN" sz="1200" b="1" dirty="0">
                <a:latin typeface="Google Sans" panose="020B0604020202020204" charset="0"/>
                <a:ea typeface="Google Sans" panose="020B0604020202020204" charset="0"/>
                <a:cs typeface="Google Sans" panose="020B0604020202020204" charset="0"/>
              </a:rPr>
              <a:t>optimal resource allocation over time</a:t>
            </a:r>
            <a:r>
              <a:rPr lang="en-IN" sz="1200" dirty="0">
                <a:latin typeface="Google Sans" panose="020B0604020202020204" charset="0"/>
                <a:ea typeface="Google Sans" panose="020B0604020202020204" charset="0"/>
                <a:cs typeface="Google Sans" panose="020B0604020202020204" charset="0"/>
              </a:rPr>
              <a:t>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Predictive crisis alerts before situations escalate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Self-improving system using continuous feedback loops </a:t>
            </a:r>
          </a:p>
          <a:p>
            <a:endParaRPr lang="en-IN" sz="1200" dirty="0">
              <a:latin typeface="Google Sans" panose="020B0604020202020204" charset="0"/>
              <a:ea typeface="Google Sans" panose="020B0604020202020204" charset="0"/>
              <a:cs typeface="Google Sans" panose="020B0604020202020204" charset="0"/>
            </a:endParaRPr>
          </a:p>
          <a:p>
            <a:pPr>
              <a:buNone/>
            </a:pPr>
            <a:r>
              <a:rPr lang="en-IN" sz="1200" b="1" dirty="0">
                <a:latin typeface="Google Sans" panose="020B0604020202020204" charset="0"/>
                <a:ea typeface="Google Sans" panose="020B0604020202020204" charset="0"/>
                <a:cs typeface="Google Sans" panose="020B0604020202020204" charset="0"/>
              </a:rPr>
              <a:t> Real-World Integration</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Integration with government &amp; NGO databases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IoT-based data collection (sensors for environment, health alerts)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Mobile app for </a:t>
            </a:r>
            <a:r>
              <a:rPr lang="en-IN" sz="1200" b="1" dirty="0">
                <a:latin typeface="Google Sans" panose="020B0604020202020204" charset="0"/>
                <a:ea typeface="Google Sans" panose="020B0604020202020204" charset="0"/>
                <a:cs typeface="Google Sans" panose="020B0604020202020204" charset="0"/>
              </a:rPr>
              <a:t>on-ground real-time updates</a:t>
            </a:r>
            <a:r>
              <a:rPr lang="en-IN" sz="1200" dirty="0">
                <a:latin typeface="Google Sans" panose="020B0604020202020204" charset="0"/>
                <a:ea typeface="Google Sans" panose="020B0604020202020204" charset="0"/>
                <a:cs typeface="Google Sans" panose="020B0604020202020204" charset="0"/>
              </a:rPr>
              <a:t> </a:t>
            </a:r>
          </a:p>
          <a:p>
            <a:endParaRPr lang="en-IN" sz="1200" dirty="0">
              <a:latin typeface="Google Sans" panose="020B0604020202020204" charset="0"/>
              <a:ea typeface="Google Sans" panose="020B0604020202020204" charset="0"/>
              <a:cs typeface="Google Sans" panose="020B0604020202020204" charset="0"/>
            </a:endParaRPr>
          </a:p>
          <a:p>
            <a:pPr>
              <a:buNone/>
            </a:pPr>
            <a:r>
              <a:rPr lang="en-IN" sz="1200" b="1" dirty="0">
                <a:latin typeface="Google Sans" panose="020B0604020202020204" charset="0"/>
                <a:ea typeface="Google Sans" panose="020B0604020202020204" charset="0"/>
                <a:cs typeface="Google Sans" panose="020B0604020202020204" charset="0"/>
              </a:rPr>
              <a:t>Collaborative Ecosystem</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Multi-NGO collaboration platform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Resource sharing across organizations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Volunteer reputation &amp; reliability scoring system </a:t>
            </a:r>
          </a:p>
          <a:p>
            <a:endParaRPr lang="en-IN" sz="1200" dirty="0">
              <a:latin typeface="Google Sans" panose="020B0604020202020204" charset="0"/>
              <a:ea typeface="Google Sans" panose="020B0604020202020204" charset="0"/>
              <a:cs typeface="Google Sans" panose="020B0604020202020204" charset="0"/>
            </a:endParaRPr>
          </a:p>
        </p:txBody>
      </p:sp>
      <p:sp>
        <p:nvSpPr>
          <p:cNvPr id="4" name="TextBox 3">
            <a:extLst>
              <a:ext uri="{FF2B5EF4-FFF2-40B4-BE49-F238E27FC236}">
                <a16:creationId xmlns:a16="http://schemas.microsoft.com/office/drawing/2014/main" id="{F54194BA-56B5-D836-3D73-BA1B084BBC04}"/>
              </a:ext>
            </a:extLst>
          </p:cNvPr>
          <p:cNvSpPr txBox="1"/>
          <p:nvPr/>
        </p:nvSpPr>
        <p:spPr>
          <a:xfrm>
            <a:off x="5561956" y="2358122"/>
            <a:ext cx="3582044" cy="2785378"/>
          </a:xfrm>
          <a:prstGeom prst="rect">
            <a:avLst/>
          </a:prstGeom>
          <a:noFill/>
        </p:spPr>
        <p:txBody>
          <a:bodyPr wrap="square" rtlCol="0">
            <a:spAutoFit/>
          </a:bodyPr>
          <a:lstStyle/>
          <a:p>
            <a:pPr>
              <a:buNone/>
            </a:pPr>
            <a:br>
              <a:rPr lang="en-IN" sz="1200" dirty="0">
                <a:latin typeface="Google Sans" panose="020B0604020202020204" charset="0"/>
                <a:ea typeface="Google Sans" panose="020B0604020202020204" charset="0"/>
                <a:cs typeface="Google Sans" panose="020B0604020202020204" charset="0"/>
              </a:rPr>
            </a:br>
            <a:endParaRPr lang="en-IN" sz="1200" dirty="0">
              <a:latin typeface="Google Sans" panose="020B0604020202020204" charset="0"/>
              <a:ea typeface="Google Sans" panose="020B0604020202020204" charset="0"/>
              <a:cs typeface="Google Sans" panose="020B0604020202020204" charset="0"/>
            </a:endParaRPr>
          </a:p>
          <a:p>
            <a:pPr>
              <a:buNone/>
            </a:pPr>
            <a:r>
              <a:rPr lang="en-IN" sz="1200" b="1" dirty="0">
                <a:latin typeface="Google Sans" panose="020B0604020202020204" charset="0"/>
                <a:ea typeface="Google Sans" panose="020B0604020202020204" charset="0"/>
                <a:cs typeface="Google Sans" panose="020B0604020202020204" charset="0"/>
              </a:rPr>
              <a:t> Vision Expansion</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Expand to disaster management &amp; emergency response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Align deeply with </a:t>
            </a:r>
            <a:r>
              <a:rPr lang="en-IN" sz="1200" b="1" dirty="0">
                <a:latin typeface="Google Sans" panose="020B0604020202020204" charset="0"/>
                <a:ea typeface="Google Sans" panose="020B0604020202020204" charset="0"/>
                <a:cs typeface="Google Sans" panose="020B0604020202020204" charset="0"/>
              </a:rPr>
              <a:t>UN SDGs (health, poverty, disaster relief)</a:t>
            </a:r>
            <a:r>
              <a:rPr lang="en-IN" sz="1200" dirty="0">
                <a:latin typeface="Google Sans" panose="020B0604020202020204" charset="0"/>
                <a:ea typeface="Google Sans" panose="020B0604020202020204" charset="0"/>
                <a:cs typeface="Google Sans" panose="020B0604020202020204" charset="0"/>
              </a:rPr>
              <a:t> </a:t>
            </a:r>
          </a:p>
          <a:p>
            <a:pPr>
              <a:buFont typeface="Arial" panose="020B0604020202020204" pitchFamily="34" charset="0"/>
              <a:buChar char="•"/>
            </a:pPr>
            <a:r>
              <a:rPr lang="en-IN" sz="1200" dirty="0">
                <a:latin typeface="Google Sans" panose="020B0604020202020204" charset="0"/>
                <a:ea typeface="Google Sans" panose="020B0604020202020204" charset="0"/>
                <a:cs typeface="Google Sans" panose="020B0604020202020204" charset="0"/>
              </a:rPr>
              <a:t>Build a </a:t>
            </a:r>
            <a:r>
              <a:rPr lang="en-IN" sz="1200" b="1" dirty="0">
                <a:latin typeface="Google Sans" panose="020B0604020202020204" charset="0"/>
                <a:ea typeface="Google Sans" panose="020B0604020202020204" charset="0"/>
                <a:cs typeface="Google Sans" panose="020B0604020202020204" charset="0"/>
              </a:rPr>
              <a:t>global intelligent coordination network</a:t>
            </a:r>
          </a:p>
          <a:p>
            <a:pPr>
              <a:buNone/>
            </a:pPr>
            <a:r>
              <a:rPr lang="en-IN" sz="1100" b="1" dirty="0">
                <a:latin typeface="Google Sans" panose="020B0604020202020204" charset="0"/>
                <a:ea typeface="Google Sans" panose="020B0604020202020204" charset="0"/>
                <a:cs typeface="Google Sans" panose="020B0604020202020204" charset="0"/>
              </a:rPr>
              <a:t>Next-Gen Visualization</a:t>
            </a:r>
          </a:p>
          <a:p>
            <a:pPr>
              <a:buFont typeface="Arial" panose="020B0604020202020204" pitchFamily="34" charset="0"/>
              <a:buChar char="•"/>
            </a:pPr>
            <a:r>
              <a:rPr lang="en-IN" sz="1100" dirty="0">
                <a:latin typeface="Google Sans" panose="020B0604020202020204" charset="0"/>
                <a:ea typeface="Google Sans" panose="020B0604020202020204" charset="0"/>
                <a:cs typeface="Google Sans" panose="020B0604020202020204" charset="0"/>
              </a:rPr>
              <a:t>Live interactive maps with dynamic updates </a:t>
            </a:r>
          </a:p>
          <a:p>
            <a:pPr>
              <a:buFont typeface="Arial" panose="020B0604020202020204" pitchFamily="34" charset="0"/>
              <a:buChar char="•"/>
            </a:pPr>
            <a:r>
              <a:rPr lang="en-IN" sz="1100" dirty="0">
                <a:latin typeface="Google Sans" panose="020B0604020202020204" charset="0"/>
                <a:ea typeface="Google Sans" panose="020B0604020202020204" charset="0"/>
                <a:cs typeface="Google Sans" panose="020B0604020202020204" charset="0"/>
              </a:rPr>
              <a:t>Scenario simulation: </a:t>
            </a:r>
          </a:p>
          <a:p>
            <a:pPr marL="742950" lvl="1" indent="-285750">
              <a:buFont typeface="Arial" panose="020B0604020202020204" pitchFamily="34" charset="0"/>
              <a:buChar char="•"/>
            </a:pPr>
            <a:r>
              <a:rPr lang="en-IN" sz="1100" dirty="0">
                <a:latin typeface="Google Sans" panose="020B0604020202020204" charset="0"/>
                <a:ea typeface="Google Sans" panose="020B0604020202020204" charset="0"/>
                <a:cs typeface="Google Sans" panose="020B0604020202020204" charset="0"/>
              </a:rPr>
              <a:t>“What if we move resources here?” </a:t>
            </a:r>
          </a:p>
          <a:p>
            <a:pPr>
              <a:buFont typeface="Arial" panose="020B0604020202020204" pitchFamily="34" charset="0"/>
              <a:buChar char="•"/>
            </a:pPr>
            <a:r>
              <a:rPr lang="en-IN" sz="1100" dirty="0">
                <a:latin typeface="Google Sans" panose="020B0604020202020204" charset="0"/>
                <a:ea typeface="Google Sans" panose="020B0604020202020204" charset="0"/>
                <a:cs typeface="Google Sans" panose="020B0604020202020204" charset="0"/>
              </a:rPr>
              <a:t>AI-assisted planning dashboards </a:t>
            </a:r>
          </a:p>
          <a:p>
            <a:pPr>
              <a:buFont typeface="Arial" panose="020B0604020202020204" pitchFamily="34" charset="0"/>
              <a:buChar char="•"/>
            </a:pPr>
            <a:endParaRPr lang="en-IN" sz="1200" dirty="0">
              <a:latin typeface="Google Sans" panose="020B0604020202020204" charset="0"/>
              <a:ea typeface="Google Sans" panose="020B0604020202020204" charset="0"/>
              <a:cs typeface="Google Sans" panose="020B0604020202020204" charset="0"/>
            </a:endParaRPr>
          </a:p>
          <a:p>
            <a:endParaRPr lang="en-IN"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Provide links to your:</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r>
              <a:rPr lang="en-GB" sz="1800" dirty="0">
                <a:latin typeface="Google Sans"/>
                <a:ea typeface="Google Sans"/>
                <a:cs typeface="Google Sans"/>
                <a:sym typeface="Google Sans"/>
              </a:rPr>
              <a:t> : https://github.com/TaufiqSameer/Solution_Challenge</a:t>
            </a: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Demo Video Link (3 Minutes)</a:t>
            </a: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MVP Link</a:t>
            </a: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SzPts val="1800"/>
              <a:buFont typeface="Google Sans"/>
              <a:buAutoNum type="arabicPeriod"/>
            </a:pPr>
            <a:r>
              <a:rPr lang="en-GB" sz="1800" dirty="0">
                <a:latin typeface="Google Sans"/>
                <a:ea typeface="Google Sans"/>
                <a:cs typeface="Google Sans"/>
                <a:sym typeface="Google Sans"/>
              </a:rPr>
              <a:t>Working Prototype Link</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3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1426</Words>
  <Application>Microsoft Office PowerPoint</Application>
  <PresentationFormat>On-screen Show (16:9)</PresentationFormat>
  <Paragraphs>266</Paragraphs>
  <Slides>17</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vt:i4>
      </vt:variant>
    </vt:vector>
  </HeadingPairs>
  <TitlesOfParts>
    <vt:vector size="21"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MOHAMMAD TAUFEEQ SAMEER</cp:lastModifiedBy>
  <cp:revision>11</cp:revision>
  <dcterms:modified xsi:type="dcterms:W3CDTF">2026-04-18T17:21:48Z</dcterms:modified>
</cp:coreProperties>
</file>